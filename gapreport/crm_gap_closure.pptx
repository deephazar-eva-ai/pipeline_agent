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c8b3b94-7b6d-49dd-906b-42096cdac988}">
          <p14:sldIdLst>
            <p14:sldId id="256"/>
            <p14:sldId id="257"/>
          </p14:sldIdLst>
        </p14:section>
        <p14:section name="What is available" id="{5bbb0e3f-9eb9-f493-fe9c-82a43f002041}">
          <p14:sldIdLst>
            <p14:sldId id="258"/>
            <p14:sldId id="259"/>
          </p14:sldIdLst>
        </p14:section>
        <p14:section name="What is missing" id="{9496965b-fe92-353e-2435-a9584543a522}">
          <p14:sldIdLst>
            <p14:sldId id="260"/>
          </p14:sldIdLst>
        </p14:section>
        <p14:section name="What is proposed" id="{2c54a430-dcdf-f4f6-7d2c-7675ed17f015}">
          <p14:sldIdLst>
            <p14:sldId id="261"/>
            <p14:sldId id="262"/>
            <p14:sldId id="263"/>
          </p14:sldIdLst>
        </p14:section>
        <p14:section name="Impact" id="{a7380502-15e5-07e7-355c-44508dc05a63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6352A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6352A"/>
                </a:solidFill>
                <a:latin typeface="+mn-lt"/>
              </a:rPr>
              <a:t>Weight in rot_score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Time in stage</c:v>
                  </c:pt>
                  <c:pt idx="1">
                    <c:v>Inactivity</c:v>
                  </c:pt>
                  <c:pt idx="2">
                    <c:v>Close-date slippage</c:v>
                  </c:pt>
                  <c:pt idx="3">
                    <c:v>Stage regression</c:v>
                  </c:pt>
                  <c:pt idx="4">
                    <c:v>Deal value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E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gapreport/crm_gapreport.md and gapreport/deals_snapshot_schema.json. Tenant: Suryodaya Precision Works. Platform snapshot 2026-09-17.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Inputs: days in stage from stage history vs 2x median of closed_won; days since last done Activity (cap 30); days past expected_close_date (cap 45); any backward DealFlow transition; Deal.value vs p90 of open deals. Computing it is orchestration-only on the existing tool seat.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6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rgbClr val="16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CRM agent gap report  ·  Seat 07 Pipeline  ·  AgentSwitch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Closing the CRM agent gap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What AgentSwitch already offers, what we propose, and what each proposal changes in the schema and platform</a:t>
            </a:r>
            <a:endParaRPr lang="en-US" sz="2000" dirty="0"/>
          </a:p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</a:rPr>
              <a:t>Target question: “Which deals are rotting, who has not been contacted, and what is the next action on each?”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Most of the gap is orchestration, not schema</a:t>
            </a:r>
            <a:endParaRPr lang="en-US" sz="3000" dirty="0"/>
          </a:p>
        </p:txBody>
      </p:sp>
      <p:sp>
        <p:nvSpPr>
          <p:cNvPr id="3" name="stat entity schemas"/>
          <p:cNvSpPr txBox="1"/>
          <p:nvPr/>
        </p:nvSpPr>
        <p:spPr>
          <a:xfrm>
            <a:off x="54864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424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entity schemas</a:t>
            </a:r>
            <a:endParaRPr lang="en-US" sz="1400" dirty="0"/>
          </a:p>
        </p:txBody>
      </p:sp>
      <p:sp>
        <p:nvSpPr>
          <p:cNvPr id="5" name="stat REST endpoints"/>
          <p:cNvSpPr txBox="1"/>
          <p:nvPr/>
        </p:nvSpPr>
        <p:spPr>
          <a:xfrm>
            <a:off x="338328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REST endpoints</a:t>
            </a:r>
            <a:endParaRPr lang="en-US" sz="1400" dirty="0"/>
          </a:p>
        </p:txBody>
      </p:sp>
      <p:sp>
        <p:nvSpPr>
          <p:cNvPr id="7" name="stat generic agent tools"/>
          <p:cNvSpPr txBox="1"/>
          <p:nvPr/>
        </p:nvSpPr>
        <p:spPr>
          <a:xfrm>
            <a:off x="621792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generic agent tools</a:t>
            </a:r>
            <a:endParaRPr lang="en-US" sz="1400" dirty="0"/>
          </a:p>
        </p:txBody>
      </p:sp>
      <p:sp>
        <p:nvSpPr>
          <p:cNvPr id="9" name="stat live deals sampled"/>
          <p:cNvSpPr txBox="1"/>
          <p:nvPr/>
        </p:nvSpPr>
        <p:spPr>
          <a:xfrm>
            <a:off x="905256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live deals sampled</a:t>
            </a:r>
            <a:endParaRPr lang="en-US" sz="1400" dirty="0"/>
          </a:p>
        </p:txBody>
      </p:sp>
      <p:sp>
        <p:nvSpPr>
          <p:cNvPr id="11" name="Available today card"/>
          <p:cNvSpPr/>
          <p:nvPr/>
        </p:nvSpPr>
        <p:spPr>
          <a:xfrm>
            <a:off x="548640" y="269748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Available today circle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3" name="Available tod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3092501"/>
            <a:ext cx="307238" cy="30723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50876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Available today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7033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full target question is answerable on the existing 13-tool seat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Deal.list already returns _rot_level / _rot_days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AgentTask, AgentEscalation, AgentMemory make it a standing habit</a:t>
            </a:r>
            <a:endParaRPr lang="en-US" sz="1500" dirty="0"/>
          </a:p>
        </p:txBody>
      </p:sp>
      <p:sp>
        <p:nvSpPr>
          <p:cNvPr id="16" name="Proposed card"/>
          <p:cNvSpPr/>
          <p:nvPr/>
        </p:nvSpPr>
        <p:spPr>
          <a:xfrm>
            <a:off x="4297680" y="269748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Proposed circle"/>
          <p:cNvSpPr/>
          <p:nvPr/>
        </p:nvSpPr>
        <p:spPr>
          <a:xfrm>
            <a:off x="4572000" y="2971800"/>
            <a:ext cx="548640" cy="548640"/>
          </a:xfrm>
          <a:prstGeom prst="ellipse">
            <a:avLst/>
          </a:prstGeom>
          <a:solidFill>
            <a:srgbClr val="D99A1C"/>
          </a:solidFill>
          <a:ln w="12700">
            <a:solidFill>
              <a:srgbClr val="D99A1C"/>
            </a:solidFill>
            <a:prstDash val="solid"/>
          </a:ln>
        </p:spPr>
      </p:sp>
      <p:pic>
        <p:nvPicPr>
          <p:cNvPr id="18" name="Propose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309250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25780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Proposed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37033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Five-factor rot score + rot_comment (computable now)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DealSnapshot ledger to keep score history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Server-side rot filter; optional Deal.next_action</a:t>
            </a:r>
            <a:endParaRPr lang="en-US" sz="1500" dirty="0"/>
          </a:p>
        </p:txBody>
      </p:sp>
      <p:sp>
        <p:nvSpPr>
          <p:cNvPr id="21" name="Impact card"/>
          <p:cNvSpPr/>
          <p:nvPr/>
        </p:nvSpPr>
        <p:spPr>
          <a:xfrm>
            <a:off x="8046720" y="269748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2" name="Impact circle"/>
          <p:cNvSpPr/>
          <p:nvPr/>
        </p:nvSpPr>
        <p:spPr>
          <a:xfrm>
            <a:off x="8321040" y="2971800"/>
            <a:ext cx="548640" cy="548640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pic>
        <p:nvPicPr>
          <p:cNvPr id="23" name="Impac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3092501"/>
            <a:ext cx="307238" cy="30723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00684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Impact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8321040" y="37033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Phase 1: zero schema or API change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Phase 2: additive only — 1 new entity, 1 filter, 2 optional fields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Competitor-parity items need new integrations (out of scope)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Every sub-question maps to an existing entity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Sub-question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Existing capability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the agent uses it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Which deals are rotting?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Deal.list returns computed _rot_level (fresh / aging / stale / none) and _rot_days; threshold in CRMPreferences.deal_rot_days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list(Deal, limit=1000), filter client-side — one call at 128 deals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Who has not been contacted?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Activity.due_date (done=true), EmailMessage.sent_at / received_at, ChannelConversation.last_message_at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report(aggregate=max, group_by=deal_id) per source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What is the next action?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Open Activity records; DealFlow: new → qualification → proposal → negotiation → closed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Read open Activity; if none, propose and Activity.create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Run it every week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AgentTask (cron / interval, retries, last_run_status)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Schedule the skill — no new table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Escalate and remember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AgentEscalation (SLA, due_at); AgentMemory (per party, expiring)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Hand off high-value stale deals; skip deals already nudged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Act under governance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AgentRunbook → ApprovalRequest → AgentRunbookRun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Graduate from propose-only to approved auto-execute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No new table, endpoint or schema change: an AgentSkill record that chains existing calls, scheduled as an AgentTask.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Reach that CRM-only rivals cannot match</a:t>
            </a:r>
            <a:endParaRPr lang="en-US" sz="3000" dirty="0"/>
          </a:p>
        </p:txBody>
      </p:sp>
      <p:sp>
        <p:nvSpPr>
          <p:cNvPr id="3" name="Cross-domain graph card"/>
          <p:cNvSpPr/>
          <p:nvPr/>
        </p:nvSpPr>
        <p:spPr>
          <a:xfrm>
            <a:off x="548640" y="141732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" name="Cross-domain graph circl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5" name="Cross-domain graph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Cross-domain graph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tool seat reads Deal, Ticket, Invoice, Contract and finance reports — 27 domains</a:t>
            </a:r>
            <a:endParaRPr lang="en-US" sz="1500" dirty="0"/>
          </a:p>
        </p:txBody>
      </p:sp>
      <p:sp>
        <p:nvSpPr>
          <p:cNvPr id="8" name="Governed autonomy card"/>
          <p:cNvSpPr/>
          <p:nvPr/>
        </p:nvSpPr>
        <p:spPr>
          <a:xfrm>
            <a:off x="4297680" y="141732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Governed autonomy circle"/>
          <p:cNvSpPr/>
          <p:nvPr/>
        </p:nvSpPr>
        <p:spPr>
          <a:xfrm>
            <a:off x="4572000" y="169164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0" name="Governed autonom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18123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Governed autonomy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423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Runbook → Approval → RunbookRun, each run logged with steps_digest</a:t>
            </a:r>
            <a:endParaRPr lang="en-US" sz="1500" dirty="0"/>
          </a:p>
        </p:txBody>
      </p:sp>
      <p:sp>
        <p:nvSpPr>
          <p:cNvPr id="13" name="Consent-gated outreach card"/>
          <p:cNvSpPr/>
          <p:nvPr/>
        </p:nvSpPr>
        <p:spPr>
          <a:xfrm>
            <a:off x="8046720" y="141732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4" name="Consent-gated outreach circle"/>
          <p:cNvSpPr/>
          <p:nvPr/>
        </p:nvSpPr>
        <p:spPr>
          <a:xfrm>
            <a:off x="8321040" y="169164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5" name="Consent-gated outreach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18123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0684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Consent-gated outreach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423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WhatsApp, SMS, Slack and more; every send recorded in ChannelSendDecision</a:t>
            </a:r>
            <a:endParaRPr lang="en-US" sz="1500" dirty="0"/>
          </a:p>
        </p:txBody>
      </p:sp>
      <p:sp>
        <p:nvSpPr>
          <p:cNvPr id="18" name="Per-contact memory card"/>
          <p:cNvSpPr/>
          <p:nvPr/>
        </p:nvSpPr>
        <p:spPr>
          <a:xfrm>
            <a:off x="548640" y="384048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Per-contact memory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0" name="Per-contact memory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2355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Per-contact memory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46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AgentMemory: typed, per party_id, with importance and expiry</a:t>
            </a:r>
            <a:endParaRPr lang="en-US" sz="1500" dirty="0"/>
          </a:p>
        </p:txBody>
      </p:sp>
      <p:sp>
        <p:nvSpPr>
          <p:cNvPr id="23" name="Native scheduling card"/>
          <p:cNvSpPr/>
          <p:nvPr/>
        </p:nvSpPr>
        <p:spPr>
          <a:xfrm>
            <a:off x="4297680" y="384048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4" name="Native scheduling circle"/>
          <p:cNvSpPr/>
          <p:nvPr/>
        </p:nvSpPr>
        <p:spPr>
          <a:xfrm>
            <a:off x="4572000" y="411480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5" name="Native scheduling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701" y="423550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5780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Native scheduling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846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AgentTask is an inspectable record with its own run history</a:t>
            </a:r>
            <a:endParaRPr lang="en-US" sz="1500" dirty="0"/>
          </a:p>
        </p:txBody>
      </p:sp>
      <p:sp>
        <p:nvSpPr>
          <p:cNvPr id="28" name="Schema-generic tools card"/>
          <p:cNvSpPr/>
          <p:nvPr/>
        </p:nvSpPr>
        <p:spPr>
          <a:xfrm>
            <a:off x="8046720" y="384048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9" name="Schema-generic tools circle"/>
          <p:cNvSpPr/>
          <p:nvPr/>
        </p:nvSpPr>
        <p:spPr>
          <a:xfrm>
            <a:off x="8321040" y="411480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30" name="Schema-generic tool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741" y="423550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0684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Schema-generic tools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846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get_schema plus list, get, create, update, transition and report over any entity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Clarify, Monaco and Reevo offer that we lack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05840"/>
                <a:gridCol w="1005840"/>
                <a:gridCol w="1005840"/>
                <a:gridCol w="47548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Capability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Clarify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Monaco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Reevo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Evidence in AgentSwitch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Account / people enrichment, TAM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enrichment entity or endpoint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Lead-scoring engine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CRMPreferences switch exists; nothing computes a score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Intent signals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buying-signal entity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Outreach sequences / cadences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sequence-state entity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Inbox warm-up, domain reputation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DomainConfig configures, does not warm up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Call recording and transcripts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CallNoteDraft has no upstream audio / transcript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Sentiment / talk-track analysis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sentiment field on Email, Activity or CallNoteDraft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Forecast model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Deal.probability is one manual number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Rep coaching rollups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Only raw Activity / Deal records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Pipeline Q&amp;A skill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Infrastructure ready, skill not authored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●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 advertised on the vendor's own site (fetched 2026-09-17), not verified in a trial. Absence checked by keyword search across all 424 entities.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Proposal 1: a five-factor rot score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766560" y="13258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rot_score = 0.35·stage + 0.25·activity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  + 0.20·slippage + 0.15·regression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  + 0.05·value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Each sub-score capped to 0–1. Ported unchanged from the msmecrmapp reference; only inputs re-derived.</a:t>
            </a:r>
            <a:endParaRPr lang="en-US" sz="1500" dirty="0"/>
          </a:p>
        </p:txBody>
      </p:sp>
      <p:sp>
        <p:nvSpPr>
          <p:cNvPr id="5" name="Healthy band dot"/>
          <p:cNvSpPr/>
          <p:nvPr/>
        </p:nvSpPr>
        <p:spPr>
          <a:xfrm>
            <a:off x="6766560" y="2990088"/>
            <a:ext cx="329184" cy="32918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69480" y="2880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Healthy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rot_score &lt; 0.50</a:t>
            </a:r>
            <a:endParaRPr lang="en-US" sz="1500" dirty="0"/>
          </a:p>
        </p:txBody>
      </p:sp>
      <p:sp>
        <p:nvSpPr>
          <p:cNvPr id="7" name="At Risk band dot"/>
          <p:cNvSpPr/>
          <p:nvPr/>
        </p:nvSpPr>
        <p:spPr>
          <a:xfrm>
            <a:off x="6766560" y="3739896"/>
            <a:ext cx="329184" cy="329184"/>
          </a:xfrm>
          <a:prstGeom prst="ellipse">
            <a:avLst/>
          </a:prstGeom>
          <a:solidFill>
            <a:srgbClr val="D99A1C"/>
          </a:solidFill>
          <a:ln w="12700">
            <a:solidFill>
              <a:srgbClr val="D99A1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69480" y="36301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At Risk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rot_score ≥ 0.50</a:t>
            </a:r>
            <a:endParaRPr lang="en-US" sz="1500" dirty="0"/>
          </a:p>
        </p:txBody>
      </p:sp>
      <p:sp>
        <p:nvSpPr>
          <p:cNvPr id="9" name="Critical band dot"/>
          <p:cNvSpPr/>
          <p:nvPr/>
        </p:nvSpPr>
        <p:spPr>
          <a:xfrm>
            <a:off x="6766560" y="4489704"/>
            <a:ext cx="329184" cy="329184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69480" y="437997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Critical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rot_score ≥ 0.75</a:t>
            </a:r>
            <a:endParaRPr lang="en-US" sz="1500" dirty="0"/>
          </a:p>
        </p:txBody>
      </p:sp>
      <p:sp>
        <p:nvSpPr>
          <p:cNvPr id="11" name="Unknown band dot"/>
          <p:cNvSpPr/>
          <p:nvPr/>
        </p:nvSpPr>
        <p:spPr>
          <a:xfrm>
            <a:off x="6766560" y="5239512"/>
            <a:ext cx="329184" cy="329184"/>
          </a:xfrm>
          <a:prstGeom prst="ellipse">
            <a:avLst/>
          </a:prstGeom>
          <a:solidFill>
            <a:srgbClr val="4F6D7A"/>
          </a:solidFill>
          <a:ln w="12700">
            <a:solidFill>
              <a:srgbClr val="4F6D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69480" y="51297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Unknown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Activity ever — the never-contacted deal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rot_comment names the driver and the next action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Driver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1325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Example rot_comment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77824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Next action</a:t>
            </a:r>
            <a:endParaRPr lang="en-US" sz="1300" dirty="0"/>
          </a:p>
        </p:txBody>
      </p:sp>
      <p:sp>
        <p:nvSpPr>
          <p:cNvPr id="6" name="Time in stage row"/>
          <p:cNvSpPr/>
          <p:nvPr/>
        </p:nvSpPr>
        <p:spPr>
          <a:xfrm>
            <a:off x="548640" y="17373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ime in stage circle"/>
          <p:cNvSpPr/>
          <p:nvPr/>
        </p:nvSpPr>
        <p:spPr>
          <a:xfrm>
            <a:off x="731520" y="1847088"/>
            <a:ext cx="493776" cy="493776"/>
          </a:xfrm>
          <a:prstGeom prst="ellipse">
            <a:avLst/>
          </a:prstGeom>
          <a:solidFill>
            <a:srgbClr val="D99A1C"/>
          </a:solidFill>
          <a:ln w="12700">
            <a:solidFill>
              <a:srgbClr val="D99A1C"/>
            </a:solidFill>
            <a:prstDash val="solid"/>
          </a:ln>
        </p:spPr>
      </p:sp>
      <p:pic>
        <p:nvPicPr>
          <p:cNvPr id="8" name="Time in stag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151" y="1955719"/>
            <a:ext cx="276515" cy="27651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Time in stage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17373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“46 days in negotiation vs. a 20-day typical stay”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1737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Chase the stage decision</a:t>
            </a:r>
            <a:endParaRPr lang="en-US" sz="1500" dirty="0"/>
          </a:p>
        </p:txBody>
      </p:sp>
      <p:sp>
        <p:nvSpPr>
          <p:cNvPr id="12" name="Inactivity row"/>
          <p:cNvSpPr/>
          <p:nvPr/>
        </p:nvSpPr>
        <p:spPr>
          <a:xfrm>
            <a:off x="548640" y="257860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Inactivity circle"/>
          <p:cNvSpPr/>
          <p:nvPr/>
        </p:nvSpPr>
        <p:spPr>
          <a:xfrm>
            <a:off x="731520" y="2688336"/>
            <a:ext cx="493776" cy="493776"/>
          </a:xfrm>
          <a:prstGeom prst="ellipse">
            <a:avLst/>
          </a:prstGeom>
          <a:solidFill>
            <a:srgbClr val="D99A1C"/>
          </a:solidFill>
          <a:ln w="12700">
            <a:solidFill>
              <a:srgbClr val="D99A1C"/>
            </a:solidFill>
            <a:prstDash val="solid"/>
          </a:ln>
        </p:spPr>
      </p:sp>
      <p:pic>
        <p:nvPicPr>
          <p:cNvPr id="14" name="Inactivit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51" y="2796967"/>
            <a:ext cx="276515" cy="27651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71600" y="25786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Inactivity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931920" y="257860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“No logged Activity in 33 days”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778240" y="2578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Log a touchpoint</a:t>
            </a:r>
            <a:endParaRPr lang="en-US" sz="1500" dirty="0"/>
          </a:p>
        </p:txBody>
      </p:sp>
      <p:sp>
        <p:nvSpPr>
          <p:cNvPr id="18" name="Close-date slippage row"/>
          <p:cNvSpPr/>
          <p:nvPr/>
        </p:nvSpPr>
        <p:spPr>
          <a:xfrm>
            <a:off x="548640" y="341985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Close-date slippage circle"/>
          <p:cNvSpPr/>
          <p:nvPr/>
        </p:nvSpPr>
        <p:spPr>
          <a:xfrm>
            <a:off x="731520" y="3529584"/>
            <a:ext cx="493776" cy="493776"/>
          </a:xfrm>
          <a:prstGeom prst="ellipse">
            <a:avLst/>
          </a:prstGeom>
          <a:solidFill>
            <a:srgbClr val="D99A1C"/>
          </a:solidFill>
          <a:ln w="12700">
            <a:solidFill>
              <a:srgbClr val="D99A1C"/>
            </a:solidFill>
            <a:prstDash val="solid"/>
          </a:ln>
        </p:spPr>
      </p:sp>
      <p:pic>
        <p:nvPicPr>
          <p:cNvPr id="20" name="Close-date slippag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51" y="3638215"/>
            <a:ext cx="276515" cy="27651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71600" y="341985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Close-date slippage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3931920" y="341985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“30 days past the expected close date”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778240" y="341985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Re-confirm the close date</a:t>
            </a:r>
            <a:endParaRPr lang="en-US" sz="1500" dirty="0"/>
          </a:p>
        </p:txBody>
      </p:sp>
      <p:sp>
        <p:nvSpPr>
          <p:cNvPr id="24" name="Stage regression row"/>
          <p:cNvSpPr/>
          <p:nvPr/>
        </p:nvSpPr>
        <p:spPr>
          <a:xfrm>
            <a:off x="548640" y="426110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tage regression circle"/>
          <p:cNvSpPr/>
          <p:nvPr/>
        </p:nvSpPr>
        <p:spPr>
          <a:xfrm>
            <a:off x="731520" y="4370832"/>
            <a:ext cx="493776" cy="493776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pic>
        <p:nvPicPr>
          <p:cNvPr id="26" name="Stage regressio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51" y="4479463"/>
            <a:ext cx="276515" cy="27651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371600" y="426110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Stage regression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3931920" y="426110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“Deal has moved backward a stage”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778240" y="426110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Address why it regressed</a:t>
            </a:r>
            <a:endParaRPr lang="en-US" sz="1500" dirty="0"/>
          </a:p>
        </p:txBody>
      </p:sp>
      <p:sp>
        <p:nvSpPr>
          <p:cNvPr id="30" name="Unknown row"/>
          <p:cNvSpPr/>
          <p:nvPr/>
        </p:nvSpPr>
        <p:spPr>
          <a:xfrm>
            <a:off x="548640" y="510235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31" name="Unknown circle"/>
          <p:cNvSpPr/>
          <p:nvPr/>
        </p:nvSpPr>
        <p:spPr>
          <a:xfrm>
            <a:off x="731520" y="5212080"/>
            <a:ext cx="493776" cy="493776"/>
          </a:xfrm>
          <a:prstGeom prst="ellipse">
            <a:avLst/>
          </a:prstGeom>
          <a:solidFill>
            <a:srgbClr val="4F6D7A"/>
          </a:solidFill>
          <a:ln w="12700">
            <a:solidFill>
              <a:srgbClr val="4F6D7A"/>
            </a:solidFill>
            <a:prstDash val="solid"/>
          </a:ln>
        </p:spPr>
      </p:sp>
      <p:pic>
        <p:nvPicPr>
          <p:cNvPr id="32" name="Unknow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51" y="5320711"/>
            <a:ext cx="276515" cy="27651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371600" y="510235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Unknown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3931920" y="510235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“No Activity record exists for this deal”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8778240" y="510235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First contact — never touched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Driver = largest weighted contribution (weight × sub-score); ties break stage → activity → slippage → regression → value.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Proposal 2: DealSnapshot keeps score history</a:t>
            </a:r>
            <a:endParaRPr lang="en-US" sz="3000" dirty="0"/>
          </a:p>
        </p:txBody>
      </p:sp>
      <p:sp>
        <p:nvSpPr>
          <p:cNvPr id="3" name="Identity and time card"/>
          <p:cNvSpPr/>
          <p:nvPr/>
        </p:nvSpPr>
        <p:spPr>
          <a:xfrm>
            <a:off x="548640" y="137160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Identity and time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company_id → Company  ·  deal_id → Deal  ·  captured_at (datetime)  ·  snapshot_reason  ·  captured_by</a:t>
            </a:r>
            <a:endParaRPr lang="en-US" sz="1400" dirty="0"/>
          </a:p>
        </p:txBody>
      </p:sp>
      <p:sp>
        <p:nvSpPr>
          <p:cNvPr id="6" name="Deal facts, frozen card"/>
          <p:cNvSpPr/>
          <p:nvPr/>
        </p:nvSpPr>
        <p:spPr>
          <a:xfrm>
            <a:off x="6172200" y="137160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08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Deal facts, frozen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202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current_stage (DealFlow)  ·  party_id → Party, owner  ·  pipeline, probability  ·  value + currency  ·  expected_close_date</a:t>
            </a:r>
            <a:endParaRPr lang="en-US" sz="1400" dirty="0"/>
          </a:p>
        </p:txBody>
      </p:sp>
      <p:sp>
        <p:nvSpPr>
          <p:cNvPr id="9" name="History card"/>
          <p:cNvSpPr/>
          <p:nvPr/>
        </p:nvSpPr>
        <p:spPr>
          <a:xfrm>
            <a:off x="548640" y="283464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971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History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8328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stage_history (JSON)  ·  has_regressed  ·  custom_fields (JSON)</a:t>
            </a:r>
            <a:endParaRPr lang="en-US" sz="1400" dirty="0"/>
          </a:p>
        </p:txBody>
      </p:sp>
      <p:sp>
        <p:nvSpPr>
          <p:cNvPr id="12" name="Score card"/>
          <p:cNvSpPr/>
          <p:nvPr/>
        </p:nvSpPr>
        <p:spPr>
          <a:xfrm>
            <a:off x="6172200" y="283464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971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Score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38328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days_since_last_activity  ·  rot_score (NULL if closed)  ·  rot_comment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Write path</a:t>
            </a:r>
            <a:endParaRPr lang="en-US" sz="1600" dirty="0"/>
          </a:p>
        </p:txBody>
      </p:sp>
      <p:sp>
        <p:nvSpPr>
          <p:cNvPr id="16" name="trigger Weekly AgentTask sweep"/>
          <p:cNvSpPr/>
          <p:nvPr/>
        </p:nvSpPr>
        <p:spPr>
          <a:xfrm>
            <a:off x="548640" y="489204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8FB9A0"/>
          </a:solidFill>
          <a:ln w="12700">
            <a:solidFill>
              <a:srgbClr val="8FB9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Weekly AgentTask sweep</a:t>
            </a:r>
            <a:endParaRPr lang="en-US" sz="1400" dirty="0"/>
          </a:p>
        </p:txBody>
      </p:sp>
      <p:sp>
        <p:nvSpPr>
          <p:cNvPr id="18" name="trigger Deal stage transition"/>
          <p:cNvSpPr/>
          <p:nvPr/>
        </p:nvSpPr>
        <p:spPr>
          <a:xfrm>
            <a:off x="548640" y="534924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8FB9A0"/>
          </a:solidFill>
          <a:ln w="12700">
            <a:solidFill>
              <a:srgbClr val="8FB9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Deal stage transition</a:t>
            </a:r>
            <a:endParaRPr lang="en-US" sz="1400" dirty="0"/>
          </a:p>
        </p:txBody>
      </p:sp>
      <p:sp>
        <p:nvSpPr>
          <p:cNvPr id="20" name="trigger AgentEscalation raised"/>
          <p:cNvSpPr/>
          <p:nvPr/>
        </p:nvSpPr>
        <p:spPr>
          <a:xfrm>
            <a:off x="548640" y="580644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8FB9A0"/>
          </a:solidFill>
          <a:ln w="12700">
            <a:solidFill>
              <a:srgbClr val="8FB9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806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AgentEscalation raised</a:t>
            </a:r>
            <a:endParaRPr lang="en-US" sz="1400" dirty="0"/>
          </a:p>
        </p:txBody>
      </p:sp>
      <p:sp>
        <p:nvSpPr>
          <p:cNvPr id="22" name="flow arrow"/>
          <p:cNvSpPr/>
          <p:nvPr/>
        </p:nvSpPr>
        <p:spPr>
          <a:xfrm>
            <a:off x="4069080" y="5257800"/>
            <a:ext cx="731520" cy="457200"/>
          </a:xfrm>
          <a:prstGeom prst="rightArrow">
            <a:avLst/>
          </a:prstGeom>
          <a:solidFill>
            <a:srgbClr val="4F6D7A"/>
          </a:solidFill>
          <a:ln w="12700">
            <a:solidFill>
              <a:srgbClr val="4F6D7A"/>
            </a:solidFill>
            <a:prstDash val="solid"/>
          </a:ln>
        </p:spPr>
      </p:sp>
      <p:sp>
        <p:nvSpPr>
          <p:cNvPr id="23" name="DealSnapshot box"/>
          <p:cNvSpPr/>
          <p:nvPr/>
        </p:nvSpPr>
        <p:spPr>
          <a:xfrm>
            <a:off x="5029200" y="48920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16352A"/>
          </a:solidFill>
          <a:ln w="12700">
            <a:solidFill>
              <a:srgbClr val="1635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0" y="48920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DealSnapshot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 row per deal per capture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434840"/>
            <a:ext cx="3840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Domain sales, kind ledger — append-only, like AgentRunbookRun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Natural key (deal_id, captured_at): a time series, unlike the reference's one-row cache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Enables “is this deal getting worse?”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Impact on schema and platform by proposal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423160"/>
                <a:gridCol w="2377440"/>
                <a:gridCol w="237744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Proposal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Schema impact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Platform / API impact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Existing data and behaviour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Rot-score skill + weekly task, escalation, memory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None — creates AgentSkill / AgentTask records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None — existing 13 tools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Writes Activity and AgentEscalation rows only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</a:rPr>
                        <a:t>Small · agent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DealSnapshot ledger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+1 entity (19 fields, links to Deal, Party, Company), 6 indexes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New CRUD / MCP tools appear in the catalogue; read-only for 5 roles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Deal untouched; grows ≤128 rows per weekly sweep at today's volume, plus event rows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9A1C"/>
                          </a:solidFill>
                        </a:rPr>
                        <a:t>Medium · backend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Server-side rot filter on Deal.list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None (computed at read) or an index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Add rot_level / min_rot_days to the list filter schema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Same response; agent stops paging every deal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9A1C"/>
                          </a:solidFill>
                        </a:rPr>
                        <a:t>Small · backend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Deal.next_action (optional)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+2 nullable fields on Deal (text + date)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Exposed by existing CRUD and forms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backfill; or keep Activity-as-next-action (no change)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6D7A"/>
                          </a:solidFill>
                        </a:rPr>
                        <a:t>Small · optional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Lead-scoring engine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New score entity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Scoring job / model behind the existing switch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CRMPreferences toggle starts doing something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3A2E"/>
                          </a:solidFill>
                        </a:rPr>
                        <a:t>Large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Competitor parity: calls, sequences, enrichment, forecast, sentiment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Several new entities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External vendor integrations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3A2E"/>
                          </a:solidFill>
                        </a:rPr>
                        <a:t>Large · out of scope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DealSnapshot is additive: nothing existing changes</a:t>
            </a:r>
            <a:endParaRPr lang="en-US" sz="3000" dirty="0"/>
          </a:p>
        </p:txBody>
      </p:sp>
      <p:sp>
        <p:nvSpPr>
          <p:cNvPr id="3" name="What is added card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" name="What is added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D99A1C"/>
          </a:solidFill>
          <a:ln w="12700">
            <a:solidFill>
              <a:srgbClr val="D99A1C"/>
            </a:solidFill>
            <a:prstDash val="solid"/>
          </a:ln>
        </p:spPr>
      </p:sp>
      <p:pic>
        <p:nvPicPr>
          <p:cNvPr id="5" name="What is adde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7666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45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is added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46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New sales-domain ledger entity, DSNAP-.YYYY.-.##### numbering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Indexes: deal_id; (deal_id, captured_at DESC); current_stage; partial rot_score; GIN on stage_history and custom_fields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Schema-generated CRUD / MCP tools join the agent catalogue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Read-only for admin, sales_manager, sales_rep, finance_admin, auditor; written by the agent task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Storage grows with time, not just with deal count</a:t>
            </a:r>
            <a:endParaRPr lang="en-US" sz="1500" dirty="0"/>
          </a:p>
        </p:txBody>
      </p:sp>
      <p:sp>
        <p:nvSpPr>
          <p:cNvPr id="8" name="What stays as is card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What stays as is circle"/>
          <p:cNvSpPr/>
          <p:nvPr/>
        </p:nvSpPr>
        <p:spPr>
          <a:xfrm>
            <a:off x="6492240" y="164592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0" name="What stays as i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17666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78040" y="1645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stays as is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423160"/>
            <a:ext cx="4846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Deal entity and its fields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DealFlow states and transitions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_rot_level / _rot_days on Deal.list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CRMPreferences.deal_rot_days and /api/deal-rot-config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All 752 existing endpoints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Rollout: agent, then backend, then integrations</a:t>
            </a:r>
            <a:endParaRPr lang="en-US" sz="3000" dirty="0"/>
          </a:p>
        </p:txBody>
      </p:sp>
      <p:sp>
        <p:nvSpPr>
          <p:cNvPr id="3" name="timeline"/>
          <p:cNvSpPr/>
          <p:nvPr/>
        </p:nvSpPr>
        <p:spPr>
          <a:xfrm>
            <a:off x="914400" y="1874520"/>
            <a:ext cx="10332720" cy="0"/>
          </a:xfrm>
          <a:prstGeom prst="line">
            <a:avLst/>
          </a:prstGeom>
          <a:noFill/>
          <a:ln w="25400">
            <a:solidFill>
              <a:srgbClr val="4F6D7A"/>
            </a:solidFill>
            <a:prstDash val="solid"/>
          </a:ln>
        </p:spPr>
      </p:sp>
      <p:sp>
        <p:nvSpPr>
          <p:cNvPr id="4" name="Now marker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2E7D4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Now card"/>
          <p:cNvSpPr/>
          <p:nvPr/>
        </p:nvSpPr>
        <p:spPr>
          <a:xfrm>
            <a:off x="548640" y="246888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Now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Agent only, zero schema change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Rot-score + rot_comment skill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Weekly AgentTask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Escalation + memory wiring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Activity.create for missing next actions</a:t>
            </a:r>
            <a:endParaRPr lang="en-US" sz="1500" dirty="0"/>
          </a:p>
        </p:txBody>
      </p:sp>
      <p:sp>
        <p:nvSpPr>
          <p:cNvPr id="10" name="Next marker"/>
          <p:cNvSpPr/>
          <p:nvPr/>
        </p:nvSpPr>
        <p:spPr>
          <a:xfrm>
            <a:off x="4434840" y="1600200"/>
            <a:ext cx="548640" cy="548640"/>
          </a:xfrm>
          <a:prstGeom prst="ellipse">
            <a:avLst/>
          </a:prstGeom>
          <a:solidFill>
            <a:srgbClr val="D99A1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Next card"/>
          <p:cNvSpPr/>
          <p:nvPr/>
        </p:nvSpPr>
        <p:spPr>
          <a:xfrm>
            <a:off x="4297680" y="246888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Next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Additive backend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6118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DealSnapshot ledger + write path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Server-side rot filter on Deal.list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Decide: Deal.next_action vs. Activity pattern</a:t>
            </a:r>
            <a:endParaRPr lang="en-US" sz="1500" dirty="0"/>
          </a:p>
        </p:txBody>
      </p:sp>
      <p:sp>
        <p:nvSpPr>
          <p:cNvPr id="16" name="Later marker"/>
          <p:cNvSpPr/>
          <p:nvPr/>
        </p:nvSpPr>
        <p:spPr>
          <a:xfrm>
            <a:off x="8183880" y="1600200"/>
            <a:ext cx="548640" cy="548640"/>
          </a:xfrm>
          <a:prstGeom prst="ellipse">
            <a:avLst/>
          </a:prstGeom>
          <a:solidFill>
            <a:srgbClr val="B83A2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Later card"/>
          <p:cNvSpPr/>
          <p:nvPr/>
        </p:nvSpPr>
        <p:spPr>
          <a:xfrm>
            <a:off x="8046720" y="246888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Later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New integrations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6118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Lead-scoring engine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Call recording / transcripts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Sequences, enrichment, forecasting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Decisions needed and caveats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Decisions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Approve DealSnapshot as a new sales ledger entity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Request the server-side rot filter from the platform team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Choose Activity-as-next-action or a Deal.next_action field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Caveats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05740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Competitor features are advertised, not trial-verified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Platform picture is a static snapshot from 2026-09-17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report(max, group_by) on dates is inferred, not yet live-tested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DealSnapshot is a proposal; it is not in schemas.json today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peline Health">
  <a:themeElements>
    <a:clrScheme name="Pipeline Health">
      <a:dk1>
        <a:srgbClr val="1E2A24"/>
      </a:dk1>
      <a:lt1>
        <a:srgbClr val="FFFFFF"/>
      </a:lt1>
      <a:dk2>
        <a:srgbClr val="16352A"/>
      </a:dk2>
      <a:lt2>
        <a:srgbClr val="EEF3EF"/>
      </a:lt2>
      <a:accent1>
        <a:srgbClr val="2E7D4F"/>
      </a:accent1>
      <a:accent2>
        <a:srgbClr val="D99A1C"/>
      </a:accent2>
      <a:accent3>
        <a:srgbClr val="B83A2E"/>
      </a:accent3>
      <a:accent4>
        <a:srgbClr val="4F6D7A"/>
      </a:accent4>
      <a:accent5>
        <a:srgbClr val="8FB9A0"/>
      </a:accent5>
      <a:accent6>
        <a:srgbClr val="6B5B95"/>
      </a:accent6>
      <a:hlink>
        <a:srgbClr val="2E7D4F"/>
      </a:hlink>
      <a:folHlink>
        <a:srgbClr val="4F6D7A"/>
      </a:folHlink>
    </a:clrScheme>
    <a:fontScheme name="Pipeline Healt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Agent Gap Closure</dc:title>
  <dc:subject>PptxGenJS Presentation</dc:subject>
  <dc:creator>Seat 07 Pipeline team</dc:creator>
  <cp:lastModifiedBy>Seat 07 Pipeline team</cp:lastModifiedBy>
  <cp:revision>1</cp:revision>
  <dcterms:created xsi:type="dcterms:W3CDTF">2026-10-03T06:02:48Z</dcterms:created>
  <dcterms:modified xsi:type="dcterms:W3CDTF">2026-10-03T06:02:48Z</dcterms:modified>
</cp:coreProperties>
</file>