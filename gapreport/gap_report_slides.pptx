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c884436-cc58-3011-3db6-02421621e04b}">
          <p14:sldIdLst>
            <p14:sldId id="256"/>
            <p14:sldId id="257"/>
          </p14:sldIdLst>
        </p14:section>
        <p14:section name="Available today" id="{31749945-796e-f856-79f6-bbb7d051bae3}">
          <p14:sldIdLst>
            <p14:sldId id="258"/>
            <p14:sldId id="259"/>
            <p14:sldId id="260"/>
            <p14:sldId id="261"/>
          </p14:sldIdLst>
        </p14:section>
        <p14:section name="Proposed" id="{236ac25d-ed0c-229c-a6cb-bca358ae1eb0}">
          <p14:sldIdLst>
            <p14:sldId id="262"/>
            <p14:sldId id="263"/>
            <p14:sldId id="264"/>
            <p14:sldId id="265"/>
            <p14:sldId id="266"/>
          </p14:sldIdLst>
        </p14:section>
        <p14:section name="Impact on other modules" id="{69d85e7f-d855-af49-2458-b1ffabbc10c1}">
          <p14:sldIdLst>
            <p14:sldId id="267"/>
            <p14:sldId id="268"/>
            <p14:sldId id="269"/>
          </p14:sldIdLst>
        </p14:section>
        <p14:section name="Next steps" id="{2e426c3b-eaa7-af99-425f-3b4f693c6464}">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A2E"/>
                </a:solidFill>
                <a:latin typeface="+mj-lt"/>
              </a:defRPr>
            </a:pPr>
            <a:r>
              <a:rPr sz="1300" b="0" i="0" u="none" strike="noStrike">
                <a:solidFill>
                  <a:srgbClr val="1F3A2E"/>
                </a:solidFill>
                <a:latin typeface="+mj-lt"/>
              </a:rPr>
              <a:t>Component weights</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2E7D57"/>
            </a:solidFill>
            <a:effectLst/>
          </c:spPr>
          <c:invertIfNegative val="0"/>
          <c:dLbls>
            <c:numFmt formatCode="0.00" sourceLinked="0"/>
            <c:txPr>
              <a:bodyPr/>
              <a:lstStyle/>
              <a:p>
                <a:pPr>
                  <a:defRPr b="0" i="0" strike="noStrike" sz="1100" u="none">
                    <a:solidFill>
                      <a:srgbClr val="1B2A24"/>
                    </a:solidFill>
                    <a:latin typeface="+mn-lt"/>
                  </a:defRPr>
                </a:pPr>
              </a:p>
            </c:txPr>
            <c:showLegendKey val="0"/>
            <c:showVal val="1"/>
            <c:showCatName val="0"/>
            <c:showSerName val="0"/>
            <c:showPercent val="0"/>
            <c:showBubbleSize val="0"/>
            <c:showLeaderLines val="0"/>
          </c:dLbls>
          <c:cat>
            <c:multiLvlStrRef>
              <c:f>Sheet1!$A$2:$A$6</c:f>
              <c:multiLvlStrCache>
                <c:ptCount val="5"/>
                <c:lvl>
                  <c:pt idx="0">
                    <c:v>Value vs p90</c:v>
                  </c:pt>
                  <c:pt idx="1">
                    <c:v>Stage regression</c:v>
                  </c:pt>
                  <c:pt idx="2">
                    <c:v>Close-date slippage</c:v>
                  </c:pt>
                  <c:pt idx="3">
                    <c:v>Days since activity</c:v>
                  </c:pt>
                  <c:pt idx="4">
                    <c:v>Time in stage</c:v>
                  </c:pt>
                </c:lvl>
              </c:multiLvlStrCache>
            </c:multiLvlStrRef>
          </c:cat>
          <c:val>
            <c:numRef>
              <c:f>Sheet1!$B$2:$B$6</c:f>
              <c:numCache>
                <c:formatCode>General</c:formatCode>
                <c:ptCount val="5"/>
                <c:pt idx="0">
                  <c:v>0.05</c:v>
                </c:pt>
                <c:pt idx="1">
                  <c:v>0.15</c:v>
                </c:pt>
                <c:pt idx="2">
                  <c:v>0.2</c:v>
                </c:pt>
                <c:pt idx="3">
                  <c:v>0.25</c:v>
                </c:pt>
                <c:pt idx="4">
                  <c:v>0.35</c:v>
                </c:pt>
              </c:numCache>
            </c:numRef>
          </c:val>
        </c:ser>
        <c:dLbls>
          <c:numFmt formatCode="0.00" sourceLinked="0"/>
          <c:txPr>
            <a:bodyPr/>
            <a:lstStyle/>
            <a:p>
              <a:pPr>
                <a:defRPr b="0" i="0" strike="noStrike" sz="1100" u="none">
                  <a:solidFill>
                    <a:srgbClr val="1B2A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24"/>
                </a:solidFill>
                <a:latin typeface="+mn-lt"/>
              </a:defRPr>
            </a:pPr>
            <a:endParaRPr lang="en-US"/>
          </a:p>
        </c:txPr>
        <c:crossAx val="2094734552"/>
        <c:crosses val="autoZero"/>
        <c:auto val="1"/>
        <c:lblAlgn val="ctr"/>
        <c:noMultiLvlLbl val="1"/>
      </c:catAx>
      <c:valAx>
        <c:axId val="2094734552"/>
        <c:scaling>
          <c:orientation val="minMax"/>
          <c:max val="0.4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report for seat 07 (Pipeline / crm) on AgentSwitch, tenant Suryodaya Precision Works. Source: EAG_V3_capstone/docs/crm_gapreport.md.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audit of the platform snapshot (schemas.json, mcp_list.json, openapi.json, agent_tools.json) captured 2026-09-17, plus deallist.json. Competitor claims are from vendor marketing pages, not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section 2a. Tools used: list, get, report, create, transition. Note: report's max/group_by on dates is inferred from docs, not confirmed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section 3: what an agent here can do that Clarify, Monaco and Reevo cannot — by construction, because AgentSwitch is one schema-driven platform across 27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section 1. Verified by keyword grep across all 424 schemas (recording, transcript, sequence, cadence, dialer, enrich, intent, forecast, sentiment...).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rot_score = 0.35 S_stage + 0.25 S_activity + 0.20 S_slippage + 0.15 S_regression + 0.05 S_value, each capped to [0,1]. The weights are configurable; these are the defaults. The Unknown band equals the 'who has not been contacted' clause of the target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sub-score is capped to [0,1], so the weight is that factor's maximum contribution to the 0-1 rot score. Default weights come from msmecrmapp/docs/test_pipeline.md. Configuration lives in the rot-score skill's parameters (AgentSkill / AgentTask), so changing it needs no schema change. Recording the weight set on DealSnapshot is part of the proposed ledger (new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Improves on the reference's dummy_snapshot, which had no capture timestamp and behaved as a current-state cache. Schema proposed in deals_snapshot_schema.json.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section 2a vs 2b. Computing the score is orchestration; persisting it for trend queries is new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Derived from report sections 2, 3 and 5. Finance, Support and Contracts are read-only for this agent; the seat's tool catalogue decides which of them are actually 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come from live probing of the team07 seat (Sept 2026), beyond the static snapshot the gap report was written from. The fourth is the report's own caveat in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Caveats: competitor claims are advertised not verified; platform picture is a 2026-09-17 static snapshot; DealSnapshot is a proposal, not a shipped 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rtlCol="0"/>
          <a:lstStyle>
            <a:lvl1pPr indent="0" marL="0">
              <a:buNone/>
              <a:defRPr lang="en-US" sz="3800" b="1" dirty="0">
                <a:solidFill>
                  <a:schemeClr val="bg1"/>
                </a:solidFill>
              </a:defRPr>
            </a:lvl1pPr>
          </a:lstStyle>
          <a:p>
            <a:pPr indent="0" marL="0">
              <a:buNone/>
            </a:pPr>
            <a:endParaRPr lang="en-US" sz="3800" dirty="0"/>
          </a:p>
        </p:txBody>
      </p:sp>
      <p:sp>
        <p:nvSpPr>
          <p:cNvPr id="3" name="Text 0"/>
          <p:cNvSpPr/>
          <p:nvPr>
            <p:ph idx="101" type="body" hasCustomPrompt="1"/>
          </p:nvPr>
        </p:nvSpPr>
        <p:spPr>
          <a:xfrm>
            <a:off x="548640" y="2560320"/>
            <a:ext cx="8046720" cy="146304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600" b="1" dirty="0">
                <a:solidFill>
                  <a:schemeClr val="tx2"/>
                </a:solidFill>
              </a:defRPr>
            </a:lvl1pPr>
          </a:lstStyle>
          <a:p>
            <a:pPr indent="0" marL="0">
              <a:buNone/>
            </a:pPr>
            <a:endParaRPr lang="en-US" sz="26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4"/>
                </a:solidFill>
              </a:rPr>
              <a:t>CRM Agent Gap Report · AgentSwitch / Suryodaya</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rtlCol="0" anchor="b"/>
          <a:lstStyle/>
          <a:p>
            <a:pPr indent="0" marL="0">
              <a:buNone/>
            </a:pPr>
            <a:r>
              <a:rPr lang="en-US" sz="3800" b="1" dirty="0">
                <a:solidFill>
                  <a:schemeClr val="bg1"/>
                </a:solidFill>
              </a:rPr>
              <a:t>CRM Pipeline Agent — Gap Report</a:t>
            </a:r>
            <a:endParaRPr lang="en-US" sz="3800" dirty="0"/>
          </a:p>
        </p:txBody>
      </p:sp>
      <p:sp>
        <p:nvSpPr>
          <p:cNvPr id="3" name="Text 0"/>
          <p:cNvSpPr/>
          <p:nvPr>
            <p:ph idx="101" type="body" hasCustomPrompt="1"/>
          </p:nvPr>
        </p:nvSpPr>
        <p:spPr>
          <a:xfrm>
            <a:off x="548640" y="2560320"/>
            <a:ext cx="8046720" cy="1463040"/>
          </a:xfrm>
          <a:prstGeom prst="rect">
            <a:avLst/>
          </a:prstGeom>
          <a:noFill/>
          <a:ln/>
        </p:spPr>
        <p:txBody>
          <a:bodyPr wrap="square" rtlCol="0" anchor="t"/>
          <a:lstStyle/>
          <a:p>
            <a:pPr indent="0" marL="0">
              <a:buNone/>
            </a:pPr>
            <a:r>
              <a:rPr lang="en-US" sz="1600" dirty="0">
                <a:solidFill>
                  <a:schemeClr val="accent5"/>
                </a:solidFill>
              </a:rPr>
              <a:t>What's available, what we propose, and what it changes in other modules</a:t>
            </a:r>
            <a:endParaRPr lang="en-US" sz="1600" dirty="0"/>
          </a:p>
          <a:p>
            <a:pPr indent="0" marL="0">
              <a:buNone/>
            </a:pPr>
            <a:r>
              <a:rPr lang="en-US" sz="800" dirty="0">
                <a:solidFill>
                  <a:schemeClr val="accent5"/>
                </a:solidFill>
              </a:rPr>
              <a:t> </a:t>
            </a:r>
            <a:endParaRPr lang="en-US" sz="1600" dirty="0"/>
          </a:p>
          <a:p>
            <a:pPr indent="0" marL="0">
              <a:buNone/>
            </a:pPr>
            <a:r>
              <a:rPr lang="en-US" sz="1400" i="1" dirty="0">
                <a:solidFill>
                  <a:schemeClr val="bg1"/>
                </a:solidFill>
              </a:rPr>
              <a:t>“Which deals are rotting, who has not been contacted, and what is the next action on each?”</a:t>
            </a:r>
            <a:endParaRPr lang="en-US" sz="1600" dirty="0"/>
          </a:p>
        </p:txBody>
      </p:sp>
      <p:sp>
        <p:nvSpPr>
          <p:cNvPr id="4" name="title-icon-circle"/>
          <p:cNvSpPr/>
          <p:nvPr/>
        </p:nvSpPr>
        <p:spPr>
          <a:xfrm>
            <a:off x="548640" y="502920"/>
            <a:ext cx="685800" cy="685800"/>
          </a:xfrm>
          <a:prstGeom prst="ellipse">
            <a:avLst/>
          </a:prstGeom>
          <a:solidFill>
            <a:schemeClr val="accent1"/>
          </a:solidFill>
          <a:ln/>
        </p:spPr>
      </p:sp>
      <p:pic>
        <p:nvPicPr>
          <p:cNvPr id="5" name="title-icon-img" descr="preencoded.png">    </p:cNvPr>
          <p:cNvPicPr>
            <a:picLocks noChangeAspect="1"/>
          </p:cNvPicPr>
          <p:nvPr/>
        </p:nvPicPr>
        <p:blipFill>
          <a:blip r:embed="rId1"/>
          <a:stretch>
            <a:fillRect/>
          </a:stretch>
        </p:blipFill>
        <p:spPr>
          <a:xfrm>
            <a:off x="699516" y="653796"/>
            <a:ext cx="384048" cy="3840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What we audited</a:t>
            </a:r>
            <a:endParaRPr lang="en-US" sz="2600" dirty="0"/>
          </a:p>
        </p:txBody>
      </p:sp>
      <p:sp>
        <p:nvSpPr>
          <p:cNvPr id="3" name="stat-0"/>
          <p:cNvSpPr/>
          <p:nvPr/>
        </p:nvSpPr>
        <p:spPr>
          <a:xfrm>
            <a:off x="457200" y="1143000"/>
            <a:ext cx="1508760" cy="1325880"/>
          </a:xfrm>
          <a:prstGeom prst="roundRect">
            <a:avLst>
              <a:gd name="adj" fmla="val 5517"/>
            </a:avLst>
          </a:prstGeom>
          <a:solidFill>
            <a:schemeClr val="bg2"/>
          </a:solidFill>
          <a:ln/>
        </p:spPr>
      </p:sp>
      <p:sp>
        <p:nvSpPr>
          <p:cNvPr id="4" name="stat-n-0"/>
          <p:cNvSpPr txBox="1"/>
          <p:nvPr/>
        </p:nvSpPr>
        <p:spPr>
          <a:xfrm>
            <a:off x="457200" y="1280160"/>
            <a:ext cx="150876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424</a:t>
            </a:r>
            <a:endParaRPr lang="en-US" sz="3600" dirty="0"/>
          </a:p>
        </p:txBody>
      </p:sp>
      <p:sp>
        <p:nvSpPr>
          <p:cNvPr id="5" name="stat-l-0"/>
          <p:cNvSpPr txBox="1"/>
          <p:nvPr/>
        </p:nvSpPr>
        <p:spPr>
          <a:xfrm>
            <a:off x="457200" y="2011680"/>
            <a:ext cx="1508760" cy="320040"/>
          </a:xfrm>
          <a:prstGeom prst="rect">
            <a:avLst/>
          </a:prstGeom>
          <a:noFill/>
          <a:ln/>
        </p:spPr>
        <p:txBody>
          <a:bodyPr wrap="square" lIns="0" tIns="0" rIns="0" bIns="0" rtlCol="0" anchor="t"/>
          <a:lstStyle/>
          <a:p>
            <a:pPr algn="ctr" indent="0" marL="0">
              <a:buNone/>
            </a:pPr>
            <a:r>
              <a:rPr lang="en-US" sz="1200" dirty="0">
                <a:solidFill>
                  <a:schemeClr val="tx1"/>
                </a:solidFill>
              </a:rPr>
              <a:t>entity schemas</a:t>
            </a:r>
            <a:endParaRPr lang="en-US" sz="1200" dirty="0"/>
          </a:p>
        </p:txBody>
      </p:sp>
      <p:sp>
        <p:nvSpPr>
          <p:cNvPr id="6" name="stat-1"/>
          <p:cNvSpPr/>
          <p:nvPr/>
        </p:nvSpPr>
        <p:spPr>
          <a:xfrm>
            <a:off x="2130552" y="1143000"/>
            <a:ext cx="1508760" cy="1325880"/>
          </a:xfrm>
          <a:prstGeom prst="roundRect">
            <a:avLst>
              <a:gd name="adj" fmla="val 5517"/>
            </a:avLst>
          </a:prstGeom>
          <a:solidFill>
            <a:schemeClr val="bg2"/>
          </a:solidFill>
          <a:ln/>
        </p:spPr>
      </p:sp>
      <p:sp>
        <p:nvSpPr>
          <p:cNvPr id="7" name="stat-n-1"/>
          <p:cNvSpPr txBox="1"/>
          <p:nvPr/>
        </p:nvSpPr>
        <p:spPr>
          <a:xfrm>
            <a:off x="2130552" y="1280160"/>
            <a:ext cx="150876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27</a:t>
            </a:r>
            <a:endParaRPr lang="en-US" sz="3600" dirty="0"/>
          </a:p>
        </p:txBody>
      </p:sp>
      <p:sp>
        <p:nvSpPr>
          <p:cNvPr id="8" name="stat-l-1"/>
          <p:cNvSpPr txBox="1"/>
          <p:nvPr/>
        </p:nvSpPr>
        <p:spPr>
          <a:xfrm>
            <a:off x="2130552" y="2011680"/>
            <a:ext cx="1508760" cy="320040"/>
          </a:xfrm>
          <a:prstGeom prst="rect">
            <a:avLst/>
          </a:prstGeom>
          <a:noFill/>
          <a:ln/>
        </p:spPr>
        <p:txBody>
          <a:bodyPr wrap="square" lIns="0" tIns="0" rIns="0" bIns="0" rtlCol="0" anchor="t"/>
          <a:lstStyle/>
          <a:p>
            <a:pPr algn="ctr" indent="0" marL="0">
              <a:buNone/>
            </a:pPr>
            <a:r>
              <a:rPr lang="en-US" sz="1200" dirty="0">
                <a:solidFill>
                  <a:schemeClr val="tx1"/>
                </a:solidFill>
              </a:rPr>
              <a:t>domains</a:t>
            </a:r>
            <a:endParaRPr lang="en-US" sz="1200" dirty="0"/>
          </a:p>
        </p:txBody>
      </p:sp>
      <p:sp>
        <p:nvSpPr>
          <p:cNvPr id="9" name="stat-2"/>
          <p:cNvSpPr/>
          <p:nvPr/>
        </p:nvSpPr>
        <p:spPr>
          <a:xfrm>
            <a:off x="3803904" y="1143000"/>
            <a:ext cx="1508760" cy="1325880"/>
          </a:xfrm>
          <a:prstGeom prst="roundRect">
            <a:avLst>
              <a:gd name="adj" fmla="val 5517"/>
            </a:avLst>
          </a:prstGeom>
          <a:solidFill>
            <a:schemeClr val="bg2"/>
          </a:solidFill>
          <a:ln/>
        </p:spPr>
      </p:sp>
      <p:sp>
        <p:nvSpPr>
          <p:cNvPr id="10" name="stat-n-2"/>
          <p:cNvSpPr txBox="1"/>
          <p:nvPr/>
        </p:nvSpPr>
        <p:spPr>
          <a:xfrm>
            <a:off x="3803904" y="1280160"/>
            <a:ext cx="150876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752</a:t>
            </a:r>
            <a:endParaRPr lang="en-US" sz="3600" dirty="0"/>
          </a:p>
        </p:txBody>
      </p:sp>
      <p:sp>
        <p:nvSpPr>
          <p:cNvPr id="11" name="stat-l-2"/>
          <p:cNvSpPr txBox="1"/>
          <p:nvPr/>
        </p:nvSpPr>
        <p:spPr>
          <a:xfrm>
            <a:off x="3803904" y="2011680"/>
            <a:ext cx="1508760" cy="320040"/>
          </a:xfrm>
          <a:prstGeom prst="rect">
            <a:avLst/>
          </a:prstGeom>
          <a:noFill/>
          <a:ln/>
        </p:spPr>
        <p:txBody>
          <a:bodyPr wrap="square" lIns="0" tIns="0" rIns="0" bIns="0" rtlCol="0" anchor="t"/>
          <a:lstStyle/>
          <a:p>
            <a:pPr algn="ctr" indent="0" marL="0">
              <a:buNone/>
            </a:pPr>
            <a:r>
              <a:rPr lang="en-US" sz="1200" dirty="0">
                <a:solidFill>
                  <a:schemeClr val="tx1"/>
                </a:solidFill>
              </a:rPr>
              <a:t>REST endpoints</a:t>
            </a:r>
            <a:endParaRPr lang="en-US" sz="1200" dirty="0"/>
          </a:p>
        </p:txBody>
      </p:sp>
      <p:sp>
        <p:nvSpPr>
          <p:cNvPr id="12" name="stat-3"/>
          <p:cNvSpPr/>
          <p:nvPr/>
        </p:nvSpPr>
        <p:spPr>
          <a:xfrm>
            <a:off x="5477256" y="1143000"/>
            <a:ext cx="1508760" cy="1325880"/>
          </a:xfrm>
          <a:prstGeom prst="roundRect">
            <a:avLst>
              <a:gd name="adj" fmla="val 5517"/>
            </a:avLst>
          </a:prstGeom>
          <a:solidFill>
            <a:schemeClr val="bg2"/>
          </a:solidFill>
          <a:ln/>
        </p:spPr>
      </p:sp>
      <p:sp>
        <p:nvSpPr>
          <p:cNvPr id="13" name="stat-n-3"/>
          <p:cNvSpPr txBox="1"/>
          <p:nvPr/>
        </p:nvSpPr>
        <p:spPr>
          <a:xfrm>
            <a:off x="5477256" y="1280160"/>
            <a:ext cx="150876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249</a:t>
            </a:r>
            <a:endParaRPr lang="en-US" sz="3600" dirty="0"/>
          </a:p>
        </p:txBody>
      </p:sp>
      <p:sp>
        <p:nvSpPr>
          <p:cNvPr id="14" name="stat-l-3"/>
          <p:cNvSpPr txBox="1"/>
          <p:nvPr/>
        </p:nvSpPr>
        <p:spPr>
          <a:xfrm>
            <a:off x="5477256" y="2011680"/>
            <a:ext cx="1508760" cy="320040"/>
          </a:xfrm>
          <a:prstGeom prst="rect">
            <a:avLst/>
          </a:prstGeom>
          <a:noFill/>
          <a:ln/>
        </p:spPr>
        <p:txBody>
          <a:bodyPr wrap="square" lIns="0" tIns="0" rIns="0" bIns="0" rtlCol="0" anchor="t"/>
          <a:lstStyle/>
          <a:p>
            <a:pPr algn="ctr" indent="0" marL="0">
              <a:buNone/>
            </a:pPr>
            <a:r>
              <a:rPr lang="en-US" sz="1200" dirty="0">
                <a:solidFill>
                  <a:schemeClr val="tx1"/>
                </a:solidFill>
              </a:rPr>
              <a:t>MCP CRUD tools</a:t>
            </a:r>
            <a:endParaRPr lang="en-US" sz="1200" dirty="0"/>
          </a:p>
        </p:txBody>
      </p:sp>
      <p:sp>
        <p:nvSpPr>
          <p:cNvPr id="15" name="stat-4"/>
          <p:cNvSpPr/>
          <p:nvPr/>
        </p:nvSpPr>
        <p:spPr>
          <a:xfrm>
            <a:off x="7150608" y="1143000"/>
            <a:ext cx="1508760" cy="1325880"/>
          </a:xfrm>
          <a:prstGeom prst="roundRect">
            <a:avLst>
              <a:gd name="adj" fmla="val 5517"/>
            </a:avLst>
          </a:prstGeom>
          <a:solidFill>
            <a:schemeClr val="bg2"/>
          </a:solidFill>
          <a:ln/>
        </p:spPr>
      </p:sp>
      <p:sp>
        <p:nvSpPr>
          <p:cNvPr id="16" name="stat-n-4"/>
          <p:cNvSpPr txBox="1"/>
          <p:nvPr/>
        </p:nvSpPr>
        <p:spPr>
          <a:xfrm>
            <a:off x="7150608" y="1280160"/>
            <a:ext cx="1508760" cy="68580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128</a:t>
            </a:r>
            <a:endParaRPr lang="en-US" sz="3600" dirty="0"/>
          </a:p>
        </p:txBody>
      </p:sp>
      <p:sp>
        <p:nvSpPr>
          <p:cNvPr id="17" name="stat-l-4"/>
          <p:cNvSpPr txBox="1"/>
          <p:nvPr/>
        </p:nvSpPr>
        <p:spPr>
          <a:xfrm>
            <a:off x="7150608" y="2011680"/>
            <a:ext cx="1508760" cy="320040"/>
          </a:xfrm>
          <a:prstGeom prst="rect">
            <a:avLst/>
          </a:prstGeom>
          <a:noFill/>
          <a:ln/>
        </p:spPr>
        <p:txBody>
          <a:bodyPr wrap="square" lIns="0" tIns="0" rIns="0" bIns="0" rtlCol="0" anchor="t"/>
          <a:lstStyle/>
          <a:p>
            <a:pPr algn="ctr" indent="0" marL="0">
              <a:buNone/>
            </a:pPr>
            <a:r>
              <a:rPr lang="en-US" sz="1200" dirty="0">
                <a:solidFill>
                  <a:schemeClr val="tx1"/>
                </a:solidFill>
              </a:rPr>
              <a:t>live deals sampled</a:t>
            </a:r>
            <a:endParaRPr lang="en-US" sz="1200" dirty="0"/>
          </a:p>
        </p:txBody>
      </p:sp>
      <p:sp>
        <p:nvSpPr>
          <p:cNvPr id="18" name="Text 16"/>
          <p:cNvSpPr txBox="1"/>
          <p:nvPr/>
        </p:nvSpPr>
        <p:spPr>
          <a:xfrm>
            <a:off x="457200" y="2788920"/>
            <a:ext cx="8229600" cy="320040"/>
          </a:xfrm>
          <a:prstGeom prst="rect">
            <a:avLst/>
          </a:prstGeom>
          <a:noFill/>
          <a:ln/>
        </p:spPr>
        <p:txBody>
          <a:bodyPr wrap="square" lIns="0" tIns="0" rIns="0" bIns="0" rtlCol="0" anchor="t"/>
          <a:lstStyle/>
          <a:p>
            <a:pPr indent="0" marL="0">
              <a:buNone/>
            </a:pPr>
            <a:r>
              <a:rPr lang="en-US" sz="1600" b="1" dirty="0">
                <a:solidFill>
                  <a:schemeClr val="tx2"/>
                </a:solidFill>
              </a:rPr>
              <a:t>Benchmarked against AI-native CRMs</a:t>
            </a:r>
            <a:endParaRPr lang="en-US" sz="1600" dirty="0"/>
          </a:p>
        </p:txBody>
      </p:sp>
      <p:sp>
        <p:nvSpPr>
          <p:cNvPr id="19" name="comp-0"/>
          <p:cNvSpPr/>
          <p:nvPr/>
        </p:nvSpPr>
        <p:spPr>
          <a:xfrm>
            <a:off x="457200" y="3200400"/>
            <a:ext cx="2606040" cy="1371600"/>
          </a:xfrm>
          <a:prstGeom prst="roundRect">
            <a:avLst>
              <a:gd name="adj" fmla="val 5333"/>
            </a:avLst>
          </a:prstGeom>
          <a:solidFill>
            <a:schemeClr val="bg2"/>
          </a:solidFill>
          <a:ln/>
        </p:spPr>
      </p:sp>
      <p:sp>
        <p:nvSpPr>
          <p:cNvPr id="20" name="Text 18"/>
          <p:cNvSpPr txBox="1"/>
          <p:nvPr/>
        </p:nvSpPr>
        <p:spPr>
          <a:xfrm>
            <a:off x="640080" y="3337560"/>
            <a:ext cx="2240280" cy="320040"/>
          </a:xfrm>
          <a:prstGeom prst="rect">
            <a:avLst/>
          </a:prstGeom>
          <a:noFill/>
          <a:ln/>
        </p:spPr>
        <p:txBody>
          <a:bodyPr wrap="square" lIns="0" tIns="0" rIns="0" bIns="0" rtlCol="0" anchor="t"/>
          <a:lstStyle/>
          <a:p>
            <a:pPr indent="0" marL="0">
              <a:buNone/>
            </a:pPr>
            <a:r>
              <a:rPr lang="en-US" sz="1500" b="1" dirty="0">
                <a:solidFill>
                  <a:schemeClr val="accent1"/>
                </a:solidFill>
              </a:rPr>
              <a:t>Clarify</a:t>
            </a:r>
            <a:endParaRPr lang="en-US" sz="1500" dirty="0"/>
          </a:p>
        </p:txBody>
      </p:sp>
      <p:sp>
        <p:nvSpPr>
          <p:cNvPr id="21" name="Text 19"/>
          <p:cNvSpPr txBox="1"/>
          <p:nvPr/>
        </p:nvSpPr>
        <p:spPr>
          <a:xfrm>
            <a:off x="640080" y="3675888"/>
            <a:ext cx="2240280" cy="822960"/>
          </a:xfrm>
          <a:prstGeom prst="rect">
            <a:avLst/>
          </a:prstGeom>
          <a:noFill/>
          <a:ln/>
        </p:spPr>
        <p:txBody>
          <a:bodyPr wrap="square" lIns="0" tIns="0" rIns="0" bIns="0" rtlCol="0" anchor="t"/>
          <a:lstStyle/>
          <a:p>
            <a:pPr indent="0" marL="0">
              <a:buNone/>
            </a:pPr>
            <a:r>
              <a:rPr lang="en-US" sz="1150" dirty="0">
                <a:solidFill>
                  <a:schemeClr val="tx1"/>
                </a:solidFill>
              </a:rPr>
              <a:t>Autonomous agents for record upkeep, follow-ups, custom workflows</a:t>
            </a:r>
            <a:endParaRPr lang="en-US" sz="1150" dirty="0"/>
          </a:p>
        </p:txBody>
      </p:sp>
      <p:sp>
        <p:nvSpPr>
          <p:cNvPr id="22" name="comp-1"/>
          <p:cNvSpPr/>
          <p:nvPr/>
        </p:nvSpPr>
        <p:spPr>
          <a:xfrm>
            <a:off x="3246120" y="3200400"/>
            <a:ext cx="2606040" cy="1371600"/>
          </a:xfrm>
          <a:prstGeom prst="roundRect">
            <a:avLst>
              <a:gd name="adj" fmla="val 5333"/>
            </a:avLst>
          </a:prstGeom>
          <a:solidFill>
            <a:schemeClr val="bg2"/>
          </a:solidFill>
          <a:ln/>
        </p:spPr>
      </p:sp>
      <p:sp>
        <p:nvSpPr>
          <p:cNvPr id="23" name="Text 21"/>
          <p:cNvSpPr txBox="1"/>
          <p:nvPr/>
        </p:nvSpPr>
        <p:spPr>
          <a:xfrm>
            <a:off x="3429000" y="3337560"/>
            <a:ext cx="2240280" cy="320040"/>
          </a:xfrm>
          <a:prstGeom prst="rect">
            <a:avLst/>
          </a:prstGeom>
          <a:noFill/>
          <a:ln/>
        </p:spPr>
        <p:txBody>
          <a:bodyPr wrap="square" lIns="0" tIns="0" rIns="0" bIns="0" rtlCol="0" anchor="t"/>
          <a:lstStyle/>
          <a:p>
            <a:pPr indent="0" marL="0">
              <a:buNone/>
            </a:pPr>
            <a:r>
              <a:rPr lang="en-US" sz="1500" b="1" dirty="0">
                <a:solidFill>
                  <a:schemeClr val="accent1"/>
                </a:solidFill>
              </a:rPr>
              <a:t>Monaco</a:t>
            </a:r>
            <a:endParaRPr lang="en-US" sz="1500" dirty="0"/>
          </a:p>
        </p:txBody>
      </p:sp>
      <p:sp>
        <p:nvSpPr>
          <p:cNvPr id="24" name="Text 22"/>
          <p:cNvSpPr txBox="1"/>
          <p:nvPr/>
        </p:nvSpPr>
        <p:spPr>
          <a:xfrm>
            <a:off x="3429000" y="3675888"/>
            <a:ext cx="2240280" cy="822960"/>
          </a:xfrm>
          <a:prstGeom prst="rect">
            <a:avLst/>
          </a:prstGeom>
          <a:noFill/>
          <a:ln/>
        </p:spPr>
        <p:txBody>
          <a:bodyPr wrap="square" lIns="0" tIns="0" rIns="0" bIns="0" rtlCol="0" anchor="t"/>
          <a:lstStyle/>
          <a:p>
            <a:pPr indent="0" marL="0">
              <a:buNone/>
            </a:pPr>
            <a:r>
              <a:rPr lang="en-US" sz="1150" dirty="0">
                <a:solidFill>
                  <a:schemeClr val="tx1"/>
                </a:solidFill>
              </a:rPr>
              <a:t>Replaces legacy CRM: TAM building, account scoring, agent outreach</a:t>
            </a:r>
            <a:endParaRPr lang="en-US" sz="1150" dirty="0"/>
          </a:p>
        </p:txBody>
      </p:sp>
      <p:sp>
        <p:nvSpPr>
          <p:cNvPr id="25" name="comp-2"/>
          <p:cNvSpPr/>
          <p:nvPr/>
        </p:nvSpPr>
        <p:spPr>
          <a:xfrm>
            <a:off x="6035040" y="3200400"/>
            <a:ext cx="2606040" cy="1371600"/>
          </a:xfrm>
          <a:prstGeom prst="roundRect">
            <a:avLst>
              <a:gd name="adj" fmla="val 5333"/>
            </a:avLst>
          </a:prstGeom>
          <a:solidFill>
            <a:schemeClr val="bg2"/>
          </a:solidFill>
          <a:ln/>
        </p:spPr>
      </p:sp>
      <p:sp>
        <p:nvSpPr>
          <p:cNvPr id="26" name="Text 24"/>
          <p:cNvSpPr txBox="1"/>
          <p:nvPr/>
        </p:nvSpPr>
        <p:spPr>
          <a:xfrm>
            <a:off x="6217920" y="3337560"/>
            <a:ext cx="2240280" cy="320040"/>
          </a:xfrm>
          <a:prstGeom prst="rect">
            <a:avLst/>
          </a:prstGeom>
          <a:noFill/>
          <a:ln/>
        </p:spPr>
        <p:txBody>
          <a:bodyPr wrap="square" lIns="0" tIns="0" rIns="0" bIns="0" rtlCol="0" anchor="t"/>
          <a:lstStyle/>
          <a:p>
            <a:pPr indent="0" marL="0">
              <a:buNone/>
            </a:pPr>
            <a:r>
              <a:rPr lang="en-US" sz="1500" b="1" dirty="0">
                <a:solidFill>
                  <a:schemeClr val="accent1"/>
                </a:solidFill>
              </a:rPr>
              <a:t>Reevo</a:t>
            </a:r>
            <a:endParaRPr lang="en-US" sz="1500" dirty="0"/>
          </a:p>
        </p:txBody>
      </p:sp>
      <p:sp>
        <p:nvSpPr>
          <p:cNvPr id="27" name="Text 25"/>
          <p:cNvSpPr txBox="1"/>
          <p:nvPr/>
        </p:nvSpPr>
        <p:spPr>
          <a:xfrm>
            <a:off x="6217920" y="3675888"/>
            <a:ext cx="2240280" cy="822960"/>
          </a:xfrm>
          <a:prstGeom prst="rect">
            <a:avLst/>
          </a:prstGeom>
          <a:noFill/>
          <a:ln/>
        </p:spPr>
        <p:txBody>
          <a:bodyPr wrap="square" lIns="0" tIns="0" rIns="0" bIns="0" rtlCol="0" anchor="t"/>
          <a:lstStyle/>
          <a:p>
            <a:pPr indent="0" marL="0">
              <a:buNone/>
            </a:pPr>
            <a:r>
              <a:rPr lang="en-US" sz="1150" dirty="0">
                <a:solidFill>
                  <a:schemeClr val="tx1"/>
                </a:solidFill>
              </a:rPr>
              <a:t>Find / Connect / Sell / Manage on a shared memory layer; “Ask Reevo”</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rtlCol="0" anchor="b"/>
          <a:lstStyle/>
          <a:p>
            <a:pPr indent="0" marL="0">
              <a:buNone/>
            </a:pPr>
            <a:r>
              <a:rPr lang="en-US" sz="3600" b="1" dirty="0">
                <a:solidFill>
                  <a:schemeClr val="bg1"/>
                </a:solidFill>
              </a:rPr>
              <a:t>1 · What is available</a:t>
            </a:r>
            <a:endParaRPr lang="en-US" sz="3600" dirty="0"/>
          </a:p>
        </p:txBody>
      </p:sp>
      <p:sp>
        <p:nvSpPr>
          <p:cNvPr id="3" name="Text 0"/>
          <p:cNvSpPr/>
          <p:nvPr>
            <p:ph idx="101" type="body" hasCustomPrompt="1"/>
          </p:nvPr>
        </p:nvSpPr>
        <p:spPr>
          <a:xfrm>
            <a:off x="548640" y="2743200"/>
            <a:ext cx="8046720" cy="731520"/>
          </a:xfrm>
          <a:prstGeom prst="rect">
            <a:avLst/>
          </a:prstGeom>
          <a:noFill/>
          <a:ln/>
        </p:spPr>
        <p:txBody>
          <a:bodyPr wrap="square" rtlCol="0" anchor="t"/>
          <a:lstStyle/>
          <a:p>
            <a:pPr indent="0" marL="0">
              <a:buNone/>
            </a:pPr>
            <a:r>
              <a:rPr lang="en-US" sz="1600" dirty="0">
                <a:solidFill>
                  <a:schemeClr val="accent5"/>
                </a:solidFill>
              </a:rPr>
              <a:t>The target question is answerable on the existing tool seat — zero new endpoints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Answered with existing entities</a:t>
            </a:r>
            <a:endParaRPr lang="en-US" sz="2600" dirty="0"/>
          </a:p>
        </p:txBody>
      </p:sp>
      <p:sp>
        <p:nvSpPr>
          <p:cNvPr id="3" name="q-card-0"/>
          <p:cNvSpPr/>
          <p:nvPr/>
        </p:nvSpPr>
        <p:spPr>
          <a:xfrm>
            <a:off x="457200" y="1097280"/>
            <a:ext cx="2606040" cy="3520440"/>
          </a:xfrm>
          <a:prstGeom prst="roundRect">
            <a:avLst>
              <a:gd name="adj" fmla="val 2807"/>
            </a:avLst>
          </a:prstGeom>
          <a:solidFill>
            <a:schemeClr val="bg2"/>
          </a:solidFill>
          <a:ln/>
        </p:spPr>
      </p:sp>
      <p:sp>
        <p:nvSpPr>
          <p:cNvPr id="4" name="q-icon-0-circle"/>
          <p:cNvSpPr/>
          <p:nvPr/>
        </p:nvSpPr>
        <p:spPr>
          <a:xfrm>
            <a:off x="640080" y="1280160"/>
            <a:ext cx="548640" cy="548640"/>
          </a:xfrm>
          <a:prstGeom prst="ellipse">
            <a:avLst/>
          </a:prstGeom>
          <a:solidFill>
            <a:schemeClr val="accent2"/>
          </a:solidFill>
          <a:ln/>
        </p:spPr>
      </p:sp>
      <p:pic>
        <p:nvPicPr>
          <p:cNvPr id="5" name="q-icon-0-img" descr="preencoded.png">    </p:cNvPr>
          <p:cNvPicPr>
            <a:picLocks noChangeAspect="1"/>
          </p:cNvPicPr>
          <p:nvPr/>
        </p:nvPicPr>
        <p:blipFill>
          <a:blip r:embed="rId1"/>
          <a:stretch>
            <a:fillRect/>
          </a:stretch>
        </p:blipFill>
        <p:spPr>
          <a:xfrm>
            <a:off x="760781" y="1400861"/>
            <a:ext cx="307238" cy="307238"/>
          </a:xfrm>
          <a:prstGeom prst="rect">
            <a:avLst/>
          </a:prstGeom>
        </p:spPr>
      </p:pic>
      <p:sp>
        <p:nvSpPr>
          <p:cNvPr id="6" name="Text 3"/>
          <p:cNvSpPr txBox="1"/>
          <p:nvPr/>
        </p:nvSpPr>
        <p:spPr>
          <a:xfrm>
            <a:off x="640080" y="1938528"/>
            <a:ext cx="2240280" cy="457200"/>
          </a:xfrm>
          <a:prstGeom prst="rect">
            <a:avLst/>
          </a:prstGeom>
          <a:noFill/>
          <a:ln/>
        </p:spPr>
        <p:txBody>
          <a:bodyPr wrap="square" lIns="0" tIns="0" rIns="0" bIns="0" rtlCol="0" anchor="t"/>
          <a:lstStyle/>
          <a:p>
            <a:pPr indent="0" marL="0">
              <a:buNone/>
            </a:pPr>
            <a:r>
              <a:rPr lang="en-US" sz="1500" b="1" dirty="0">
                <a:solidFill>
                  <a:schemeClr val="tx2"/>
                </a:solidFill>
              </a:rPr>
              <a:t>Which deals are rotting?</a:t>
            </a:r>
            <a:endParaRPr lang="en-US" sz="1500" dirty="0"/>
          </a:p>
        </p:txBody>
      </p:sp>
      <p:sp>
        <p:nvSpPr>
          <p:cNvPr id="7" name="Text 4"/>
          <p:cNvSpPr txBox="1"/>
          <p:nvPr/>
        </p:nvSpPr>
        <p:spPr>
          <a:xfrm>
            <a:off x="640080" y="2468880"/>
            <a:ext cx="2286000" cy="2057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Deal.list returns computed _rot_level and _rot_days</a:t>
            </a:r>
            <a:endParaRPr lang="en-US" sz="1200" dirty="0"/>
          </a:p>
          <a:p>
            <a:pPr marL="342900" indent="-342900">
              <a:spcAft>
                <a:spcPts val="600"/>
              </a:spcAft>
              <a:buSzPct val="100000"/>
              <a:buChar char="•"/>
            </a:pPr>
            <a:r>
              <a:rPr lang="en-US" sz="1200" dirty="0">
                <a:solidFill>
                  <a:schemeClr val="tx1"/>
                </a:solidFill>
              </a:rPr>
              <a:t>Threshold from CRMPreferences.deal_rot_days / deal-rot-config</a:t>
            </a:r>
            <a:endParaRPr lang="en-US" sz="1200" dirty="0"/>
          </a:p>
          <a:p>
            <a:pPr marL="342900" indent="-342900">
              <a:spcAft>
                <a:spcPts val="600"/>
              </a:spcAft>
              <a:buSzPct val="100000"/>
              <a:buChar char="•"/>
            </a:pPr>
            <a:r>
              <a:rPr lang="en-US" sz="1200" dirty="0">
                <a:solidFill>
                  <a:schemeClr val="tx1"/>
                </a:solidFill>
              </a:rPr>
              <a:t>Filter client-side — one call covers 128 deals</a:t>
            </a:r>
            <a:endParaRPr lang="en-US" sz="1200" dirty="0"/>
          </a:p>
        </p:txBody>
      </p:sp>
      <p:sp>
        <p:nvSpPr>
          <p:cNvPr id="8" name="q-card-1"/>
          <p:cNvSpPr/>
          <p:nvPr/>
        </p:nvSpPr>
        <p:spPr>
          <a:xfrm>
            <a:off x="3246120" y="1097280"/>
            <a:ext cx="2606040" cy="3520440"/>
          </a:xfrm>
          <a:prstGeom prst="roundRect">
            <a:avLst>
              <a:gd name="adj" fmla="val 2807"/>
            </a:avLst>
          </a:prstGeom>
          <a:solidFill>
            <a:schemeClr val="bg2"/>
          </a:solidFill>
          <a:ln/>
        </p:spPr>
      </p:sp>
      <p:sp>
        <p:nvSpPr>
          <p:cNvPr id="9" name="q-icon-1-circle"/>
          <p:cNvSpPr/>
          <p:nvPr/>
        </p:nvSpPr>
        <p:spPr>
          <a:xfrm>
            <a:off x="3429000" y="1280160"/>
            <a:ext cx="548640" cy="548640"/>
          </a:xfrm>
          <a:prstGeom prst="ellipse">
            <a:avLst/>
          </a:prstGeom>
          <a:solidFill>
            <a:schemeClr val="accent3"/>
          </a:solidFill>
          <a:ln/>
        </p:spPr>
      </p:sp>
      <p:pic>
        <p:nvPicPr>
          <p:cNvPr id="10" name="q-icon-1-img" descr="preencoded.png">    </p:cNvPr>
          <p:cNvPicPr>
            <a:picLocks noChangeAspect="1"/>
          </p:cNvPicPr>
          <p:nvPr/>
        </p:nvPicPr>
        <p:blipFill>
          <a:blip r:embed="rId2"/>
          <a:stretch>
            <a:fillRect/>
          </a:stretch>
        </p:blipFill>
        <p:spPr>
          <a:xfrm>
            <a:off x="3549701" y="1400861"/>
            <a:ext cx="307238" cy="307238"/>
          </a:xfrm>
          <a:prstGeom prst="rect">
            <a:avLst/>
          </a:prstGeom>
        </p:spPr>
      </p:pic>
      <p:sp>
        <p:nvSpPr>
          <p:cNvPr id="11" name="Text 7"/>
          <p:cNvSpPr txBox="1"/>
          <p:nvPr/>
        </p:nvSpPr>
        <p:spPr>
          <a:xfrm>
            <a:off x="3429000" y="1938528"/>
            <a:ext cx="2240280" cy="457200"/>
          </a:xfrm>
          <a:prstGeom prst="rect">
            <a:avLst/>
          </a:prstGeom>
          <a:noFill/>
          <a:ln/>
        </p:spPr>
        <p:txBody>
          <a:bodyPr wrap="square" lIns="0" tIns="0" rIns="0" bIns="0" rtlCol="0" anchor="t"/>
          <a:lstStyle/>
          <a:p>
            <a:pPr indent="0" marL="0">
              <a:buNone/>
            </a:pPr>
            <a:r>
              <a:rPr lang="en-US" sz="1500" b="1" dirty="0">
                <a:solidFill>
                  <a:schemeClr val="tx2"/>
                </a:solidFill>
              </a:rPr>
              <a:t>Who hasn't been contacted?</a:t>
            </a:r>
            <a:endParaRPr lang="en-US" sz="1500" dirty="0"/>
          </a:p>
        </p:txBody>
      </p:sp>
      <p:sp>
        <p:nvSpPr>
          <p:cNvPr id="12" name="Text 8"/>
          <p:cNvSpPr txBox="1"/>
          <p:nvPr/>
        </p:nvSpPr>
        <p:spPr>
          <a:xfrm>
            <a:off x="3429000" y="2468880"/>
            <a:ext cx="2286000" cy="2057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Latest done Activity per deal</a:t>
            </a:r>
            <a:endParaRPr lang="en-US" sz="1200" dirty="0"/>
          </a:p>
          <a:p>
            <a:pPr marL="342900" indent="-342900">
              <a:spcAft>
                <a:spcPts val="600"/>
              </a:spcAft>
              <a:buSzPct val="100000"/>
              <a:buChar char="•"/>
            </a:pPr>
            <a:r>
              <a:rPr lang="en-US" sz="1200" dirty="0">
                <a:solidFill>
                  <a:schemeClr val="tx1"/>
                </a:solidFill>
              </a:rPr>
              <a:t>EmailMessage sent_at / received_at</a:t>
            </a:r>
            <a:endParaRPr lang="en-US" sz="1200" dirty="0"/>
          </a:p>
          <a:p>
            <a:pPr marL="342900" indent="-342900">
              <a:spcAft>
                <a:spcPts val="600"/>
              </a:spcAft>
              <a:buSzPct val="100000"/>
              <a:buChar char="•"/>
            </a:pPr>
            <a:r>
              <a:rPr lang="en-US" sz="1200" dirty="0">
                <a:solidFill>
                  <a:schemeClr val="tx1"/>
                </a:solidFill>
              </a:rPr>
              <a:t>ChannelConversation.last_message_at when linked to the Deal</a:t>
            </a:r>
            <a:endParaRPr lang="en-US" sz="1200" dirty="0"/>
          </a:p>
        </p:txBody>
      </p:sp>
      <p:sp>
        <p:nvSpPr>
          <p:cNvPr id="13" name="q-card-2"/>
          <p:cNvSpPr/>
          <p:nvPr/>
        </p:nvSpPr>
        <p:spPr>
          <a:xfrm>
            <a:off x="6035040" y="1097280"/>
            <a:ext cx="2606040" cy="3520440"/>
          </a:xfrm>
          <a:prstGeom prst="roundRect">
            <a:avLst>
              <a:gd name="adj" fmla="val 2807"/>
            </a:avLst>
          </a:prstGeom>
          <a:solidFill>
            <a:schemeClr val="bg2"/>
          </a:solidFill>
          <a:ln/>
        </p:spPr>
      </p:sp>
      <p:sp>
        <p:nvSpPr>
          <p:cNvPr id="14" name="q-icon-2-circle"/>
          <p:cNvSpPr/>
          <p:nvPr/>
        </p:nvSpPr>
        <p:spPr>
          <a:xfrm>
            <a:off x="6217920" y="1280160"/>
            <a:ext cx="548640" cy="548640"/>
          </a:xfrm>
          <a:prstGeom prst="ellipse">
            <a:avLst/>
          </a:prstGeom>
          <a:solidFill>
            <a:schemeClr val="accent1"/>
          </a:solidFill>
          <a:ln/>
        </p:spPr>
      </p:sp>
      <p:pic>
        <p:nvPicPr>
          <p:cNvPr id="15" name="q-icon-2-img" descr="preencoded.png">    </p:cNvPr>
          <p:cNvPicPr>
            <a:picLocks noChangeAspect="1"/>
          </p:cNvPicPr>
          <p:nvPr/>
        </p:nvPicPr>
        <p:blipFill>
          <a:blip r:embed="rId3"/>
          <a:stretch>
            <a:fillRect/>
          </a:stretch>
        </p:blipFill>
        <p:spPr>
          <a:xfrm>
            <a:off x="6338621" y="1400861"/>
            <a:ext cx="307238" cy="307238"/>
          </a:xfrm>
          <a:prstGeom prst="rect">
            <a:avLst/>
          </a:prstGeom>
        </p:spPr>
      </p:pic>
      <p:sp>
        <p:nvSpPr>
          <p:cNvPr id="16" name="Text 11"/>
          <p:cNvSpPr txBox="1"/>
          <p:nvPr/>
        </p:nvSpPr>
        <p:spPr>
          <a:xfrm>
            <a:off x="6217920" y="1938528"/>
            <a:ext cx="2240280" cy="457200"/>
          </a:xfrm>
          <a:prstGeom prst="rect">
            <a:avLst/>
          </a:prstGeom>
          <a:noFill/>
          <a:ln/>
        </p:spPr>
        <p:txBody>
          <a:bodyPr wrap="square" lIns="0" tIns="0" rIns="0" bIns="0" rtlCol="0" anchor="t"/>
          <a:lstStyle/>
          <a:p>
            <a:pPr indent="0" marL="0">
              <a:buNone/>
            </a:pPr>
            <a:r>
              <a:rPr lang="en-US" sz="1500" b="1" dirty="0">
                <a:solidFill>
                  <a:schemeClr val="tx2"/>
                </a:solidFill>
              </a:rPr>
              <a:t>What's the next action?</a:t>
            </a:r>
            <a:endParaRPr lang="en-US" sz="1500" dirty="0"/>
          </a:p>
        </p:txBody>
      </p:sp>
      <p:sp>
        <p:nvSpPr>
          <p:cNvPr id="17" name="Text 12"/>
          <p:cNvSpPr txBox="1"/>
          <p:nvPr/>
        </p:nvSpPr>
        <p:spPr>
          <a:xfrm>
            <a:off x="6217920" y="2468880"/>
            <a:ext cx="2286000" cy="2057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Open Activity per deal, sorted by due_date</a:t>
            </a:r>
            <a:endParaRPr lang="en-US" sz="1200" dirty="0"/>
          </a:p>
          <a:p>
            <a:pPr marL="342900" indent="-342900">
              <a:spcAft>
                <a:spcPts val="600"/>
              </a:spcAft>
              <a:buSzPct val="100000"/>
              <a:buChar char="•"/>
            </a:pPr>
            <a:r>
              <a:rPr lang="en-US" sz="1200" dirty="0">
                <a:solidFill>
                  <a:schemeClr val="tx1"/>
                </a:solidFill>
              </a:rPr>
              <a:t>Else reason from Deal.stage + DealFlow graph</a:t>
            </a:r>
            <a:endParaRPr lang="en-US" sz="1200" dirty="0"/>
          </a:p>
          <a:p>
            <a:pPr marL="342900" indent="-342900">
              <a:spcAft>
                <a:spcPts val="600"/>
              </a:spcAft>
              <a:buSzPct val="100000"/>
              <a:buChar char="•"/>
            </a:pPr>
            <a:r>
              <a:rPr lang="en-US" sz="1200" dirty="0">
                <a:solidFill>
                  <a:schemeClr val="tx1"/>
                </a:solidFill>
              </a:rPr>
              <a:t>Write it back with Activity.create — visible in the UI</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Agent primitives already in the platform</a:t>
            </a:r>
            <a:endParaRPr lang="en-US" sz="2600" dirty="0"/>
          </a:p>
        </p:txBody>
      </p:sp>
      <p:sp>
        <p:nvSpPr>
          <p:cNvPr id="3" name="prim-icon-0-circle"/>
          <p:cNvSpPr/>
          <p:nvPr/>
        </p:nvSpPr>
        <p:spPr>
          <a:xfrm>
            <a:off x="457200" y="1143000"/>
            <a:ext cx="502920" cy="502920"/>
          </a:xfrm>
          <a:prstGeom prst="ellipse">
            <a:avLst/>
          </a:prstGeom>
          <a:solidFill>
            <a:schemeClr val="accent1"/>
          </a:solidFill>
          <a:ln/>
        </p:spPr>
      </p:sp>
      <p:pic>
        <p:nvPicPr>
          <p:cNvPr id="4" name="prim-icon-0-img" descr="preencoded.png">    </p:cNvPr>
          <p:cNvPicPr>
            <a:picLocks noChangeAspect="1"/>
          </p:cNvPicPr>
          <p:nvPr/>
        </p:nvPicPr>
        <p:blipFill>
          <a:blip r:embed="rId1"/>
          <a:stretch>
            <a:fillRect/>
          </a:stretch>
        </p:blipFill>
        <p:spPr>
          <a:xfrm>
            <a:off x="567842" y="1253642"/>
            <a:ext cx="281635" cy="281635"/>
          </a:xfrm>
          <a:prstGeom prst="rect">
            <a:avLst/>
          </a:prstGeom>
        </p:spPr>
      </p:pic>
      <p:sp>
        <p:nvSpPr>
          <p:cNvPr id="5" name="Text 2"/>
          <p:cNvSpPr txBox="1"/>
          <p:nvPr/>
        </p:nvSpPr>
        <p:spPr>
          <a:xfrm>
            <a:off x="1143000" y="1097280"/>
            <a:ext cx="3337560" cy="301752"/>
          </a:xfrm>
          <a:prstGeom prst="rect">
            <a:avLst/>
          </a:prstGeom>
          <a:noFill/>
          <a:ln/>
        </p:spPr>
        <p:txBody>
          <a:bodyPr wrap="square" lIns="0" tIns="0" rIns="0" bIns="0" rtlCol="0" anchor="t"/>
          <a:lstStyle/>
          <a:p>
            <a:pPr indent="0" marL="0">
              <a:buNone/>
            </a:pPr>
            <a:r>
              <a:rPr lang="en-US" sz="1400" b="1" dirty="0">
                <a:solidFill>
                  <a:schemeClr val="tx2"/>
                </a:solidFill>
              </a:rPr>
              <a:t>AgentTask</a:t>
            </a:r>
            <a:endParaRPr lang="en-US" sz="1400" dirty="0"/>
          </a:p>
        </p:txBody>
      </p:sp>
      <p:sp>
        <p:nvSpPr>
          <p:cNvPr id="6" name="Text 3"/>
          <p:cNvSpPr txBox="1"/>
          <p:nvPr/>
        </p:nvSpPr>
        <p:spPr>
          <a:xfrm>
            <a:off x="1143000" y="1426464"/>
            <a:ext cx="3337560" cy="731520"/>
          </a:xfrm>
          <a:prstGeom prst="rect">
            <a:avLst/>
          </a:prstGeom>
          <a:noFill/>
          <a:ln/>
        </p:spPr>
        <p:txBody>
          <a:bodyPr wrap="square" lIns="0" tIns="0" rIns="0" bIns="0" rtlCol="0" anchor="t"/>
          <a:lstStyle/>
          <a:p>
            <a:pPr indent="0" marL="0">
              <a:buNone/>
            </a:pPr>
            <a:r>
              <a:rPr lang="en-US" sz="1150" dirty="0">
                <a:solidFill>
                  <a:schemeClr val="tx1"/>
                </a:solidFill>
              </a:rPr>
              <a:t>Cron / interval scheduled job with retries, timeout and run status — the question becomes a weekly habit</a:t>
            </a:r>
            <a:endParaRPr lang="en-US" sz="1150" dirty="0"/>
          </a:p>
        </p:txBody>
      </p:sp>
      <p:sp>
        <p:nvSpPr>
          <p:cNvPr id="7" name="prim-icon-1-circle"/>
          <p:cNvSpPr/>
          <p:nvPr/>
        </p:nvSpPr>
        <p:spPr>
          <a:xfrm>
            <a:off x="4663440" y="1143000"/>
            <a:ext cx="502920" cy="502920"/>
          </a:xfrm>
          <a:prstGeom prst="ellipse">
            <a:avLst/>
          </a:prstGeom>
          <a:solidFill>
            <a:schemeClr val="accent1"/>
          </a:solidFill>
          <a:ln/>
        </p:spPr>
      </p:sp>
      <p:pic>
        <p:nvPicPr>
          <p:cNvPr id="8" name="prim-icon-1-img" descr="preencoded.png">    </p:cNvPr>
          <p:cNvPicPr>
            <a:picLocks noChangeAspect="1"/>
          </p:cNvPicPr>
          <p:nvPr/>
        </p:nvPicPr>
        <p:blipFill>
          <a:blip r:embed="rId2"/>
          <a:stretch>
            <a:fillRect/>
          </a:stretch>
        </p:blipFill>
        <p:spPr>
          <a:xfrm>
            <a:off x="4774082" y="1253642"/>
            <a:ext cx="281635" cy="281635"/>
          </a:xfrm>
          <a:prstGeom prst="rect">
            <a:avLst/>
          </a:prstGeom>
        </p:spPr>
      </p:pic>
      <p:sp>
        <p:nvSpPr>
          <p:cNvPr id="9" name="Text 5"/>
          <p:cNvSpPr txBox="1"/>
          <p:nvPr/>
        </p:nvSpPr>
        <p:spPr>
          <a:xfrm>
            <a:off x="5349240" y="1097280"/>
            <a:ext cx="3337560" cy="301752"/>
          </a:xfrm>
          <a:prstGeom prst="rect">
            <a:avLst/>
          </a:prstGeom>
          <a:noFill/>
          <a:ln/>
        </p:spPr>
        <p:txBody>
          <a:bodyPr wrap="square" lIns="0" tIns="0" rIns="0" bIns="0" rtlCol="0" anchor="t"/>
          <a:lstStyle/>
          <a:p>
            <a:pPr indent="0" marL="0">
              <a:buNone/>
            </a:pPr>
            <a:r>
              <a:rPr lang="en-US" sz="1400" b="1" dirty="0">
                <a:solidFill>
                  <a:schemeClr val="tx2"/>
                </a:solidFill>
              </a:rPr>
              <a:t>AgentEscalation</a:t>
            </a:r>
            <a:endParaRPr lang="en-US" sz="1400" dirty="0"/>
          </a:p>
        </p:txBody>
      </p:sp>
      <p:sp>
        <p:nvSpPr>
          <p:cNvPr id="10" name="Text 6"/>
          <p:cNvSpPr txBox="1"/>
          <p:nvPr/>
        </p:nvSpPr>
        <p:spPr>
          <a:xfrm>
            <a:off x="5349240" y="1426464"/>
            <a:ext cx="3337560" cy="731520"/>
          </a:xfrm>
          <a:prstGeom prst="rect">
            <a:avLst/>
          </a:prstGeom>
          <a:noFill/>
          <a:ln/>
        </p:spPr>
        <p:txBody>
          <a:bodyPr wrap="square" lIns="0" tIns="0" rIns="0" bIns="0" rtlCol="0" anchor="t"/>
          <a:lstStyle/>
          <a:p>
            <a:pPr indent="0" marL="0">
              <a:buNone/>
            </a:pPr>
            <a:r>
              <a:rPr lang="en-US" sz="1150" dirty="0">
                <a:solidFill>
                  <a:schemeClr val="tx1"/>
                </a:solidFill>
              </a:rPr>
              <a:t>Hands a stale, high-value deal to a human with an SLA and reason code</a:t>
            </a:r>
            <a:endParaRPr lang="en-US" sz="1150" dirty="0"/>
          </a:p>
        </p:txBody>
      </p:sp>
      <p:sp>
        <p:nvSpPr>
          <p:cNvPr id="11" name="prim-icon-2-circle"/>
          <p:cNvSpPr/>
          <p:nvPr/>
        </p:nvSpPr>
        <p:spPr>
          <a:xfrm>
            <a:off x="457200" y="2350008"/>
            <a:ext cx="502920" cy="502920"/>
          </a:xfrm>
          <a:prstGeom prst="ellipse">
            <a:avLst/>
          </a:prstGeom>
          <a:solidFill>
            <a:schemeClr val="accent1"/>
          </a:solidFill>
          <a:ln/>
        </p:spPr>
      </p:sp>
      <p:pic>
        <p:nvPicPr>
          <p:cNvPr id="12" name="prim-icon-2-img" descr="preencoded.png">    </p:cNvPr>
          <p:cNvPicPr>
            <a:picLocks noChangeAspect="1"/>
          </p:cNvPicPr>
          <p:nvPr/>
        </p:nvPicPr>
        <p:blipFill>
          <a:blip r:embed="rId3"/>
          <a:stretch>
            <a:fillRect/>
          </a:stretch>
        </p:blipFill>
        <p:spPr>
          <a:xfrm>
            <a:off x="567842" y="2460650"/>
            <a:ext cx="281635" cy="281635"/>
          </a:xfrm>
          <a:prstGeom prst="rect">
            <a:avLst/>
          </a:prstGeom>
        </p:spPr>
      </p:pic>
      <p:sp>
        <p:nvSpPr>
          <p:cNvPr id="13" name="Text 8"/>
          <p:cNvSpPr txBox="1"/>
          <p:nvPr/>
        </p:nvSpPr>
        <p:spPr>
          <a:xfrm>
            <a:off x="1143000" y="2304288"/>
            <a:ext cx="3337560" cy="301752"/>
          </a:xfrm>
          <a:prstGeom prst="rect">
            <a:avLst/>
          </a:prstGeom>
          <a:noFill/>
          <a:ln/>
        </p:spPr>
        <p:txBody>
          <a:bodyPr wrap="square" lIns="0" tIns="0" rIns="0" bIns="0" rtlCol="0" anchor="t"/>
          <a:lstStyle/>
          <a:p>
            <a:pPr indent="0" marL="0">
              <a:buNone/>
            </a:pPr>
            <a:r>
              <a:rPr lang="en-US" sz="1400" b="1" dirty="0">
                <a:solidFill>
                  <a:schemeClr val="tx2"/>
                </a:solidFill>
              </a:rPr>
              <a:t>AgentMemory</a:t>
            </a:r>
            <a:endParaRPr lang="en-US" sz="1400" dirty="0"/>
          </a:p>
        </p:txBody>
      </p:sp>
      <p:sp>
        <p:nvSpPr>
          <p:cNvPr id="14" name="Text 9"/>
          <p:cNvSpPr txBox="1"/>
          <p:nvPr/>
        </p:nvSpPr>
        <p:spPr>
          <a:xfrm>
            <a:off x="1143000" y="2633472"/>
            <a:ext cx="3337560" cy="731520"/>
          </a:xfrm>
          <a:prstGeom prst="rect">
            <a:avLst/>
          </a:prstGeom>
          <a:noFill/>
          <a:ln/>
        </p:spPr>
        <p:txBody>
          <a:bodyPr wrap="square" lIns="0" tIns="0" rIns="0" bIns="0" rtlCol="0" anchor="t"/>
          <a:lstStyle/>
          <a:p>
            <a:pPr indent="0" marL="0">
              <a:buNone/>
            </a:pPr>
            <a:r>
              <a:rPr lang="en-US" sz="1150" dirty="0">
                <a:solidFill>
                  <a:schemeClr val="tx1"/>
                </a:solidFill>
              </a:rPr>
              <a:t>Typed, expiring memory per party — avoids re-flagging last week's nudges</a:t>
            </a:r>
            <a:endParaRPr lang="en-US" sz="1150" dirty="0"/>
          </a:p>
        </p:txBody>
      </p:sp>
      <p:sp>
        <p:nvSpPr>
          <p:cNvPr id="15" name="prim-icon-3-circle"/>
          <p:cNvSpPr/>
          <p:nvPr/>
        </p:nvSpPr>
        <p:spPr>
          <a:xfrm>
            <a:off x="4663440" y="2350008"/>
            <a:ext cx="502920" cy="502920"/>
          </a:xfrm>
          <a:prstGeom prst="ellipse">
            <a:avLst/>
          </a:prstGeom>
          <a:solidFill>
            <a:schemeClr val="accent1"/>
          </a:solidFill>
          <a:ln/>
        </p:spPr>
      </p:sp>
      <p:pic>
        <p:nvPicPr>
          <p:cNvPr id="16" name="prim-icon-3-img" descr="preencoded.png">    </p:cNvPr>
          <p:cNvPicPr>
            <a:picLocks noChangeAspect="1"/>
          </p:cNvPicPr>
          <p:nvPr/>
        </p:nvPicPr>
        <p:blipFill>
          <a:blip r:embed="rId4"/>
          <a:stretch>
            <a:fillRect/>
          </a:stretch>
        </p:blipFill>
        <p:spPr>
          <a:xfrm>
            <a:off x="4774082" y="2460650"/>
            <a:ext cx="281635" cy="281635"/>
          </a:xfrm>
          <a:prstGeom prst="rect">
            <a:avLst/>
          </a:prstGeom>
        </p:spPr>
      </p:pic>
      <p:sp>
        <p:nvSpPr>
          <p:cNvPr id="17" name="Text 11"/>
          <p:cNvSpPr txBox="1"/>
          <p:nvPr/>
        </p:nvSpPr>
        <p:spPr>
          <a:xfrm>
            <a:off x="5349240" y="2304288"/>
            <a:ext cx="3337560" cy="301752"/>
          </a:xfrm>
          <a:prstGeom prst="rect">
            <a:avLst/>
          </a:prstGeom>
          <a:noFill/>
          <a:ln/>
        </p:spPr>
        <p:txBody>
          <a:bodyPr wrap="square" lIns="0" tIns="0" rIns="0" bIns="0" rtlCol="0" anchor="t"/>
          <a:lstStyle/>
          <a:p>
            <a:pPr indent="0" marL="0">
              <a:buNone/>
            </a:pPr>
            <a:r>
              <a:rPr lang="en-US" sz="1400" b="1" dirty="0">
                <a:solidFill>
                  <a:schemeClr val="tx2"/>
                </a:solidFill>
              </a:rPr>
              <a:t>Runbooks + approvals</a:t>
            </a:r>
            <a:endParaRPr lang="en-US" sz="1400" dirty="0"/>
          </a:p>
        </p:txBody>
      </p:sp>
      <p:sp>
        <p:nvSpPr>
          <p:cNvPr id="18" name="Text 12"/>
          <p:cNvSpPr txBox="1"/>
          <p:nvPr/>
        </p:nvSpPr>
        <p:spPr>
          <a:xfrm>
            <a:off x="5349240" y="2633472"/>
            <a:ext cx="3337560" cy="731520"/>
          </a:xfrm>
          <a:prstGeom prst="rect">
            <a:avLst/>
          </a:prstGeom>
          <a:noFill/>
          <a:ln/>
        </p:spPr>
        <p:txBody>
          <a:bodyPr wrap="square" lIns="0" tIns="0" rIns="0" bIns="0" rtlCol="0" anchor="t"/>
          <a:lstStyle/>
          <a:p>
            <a:pPr indent="0" marL="0">
              <a:buNone/>
            </a:pPr>
            <a:r>
              <a:rPr lang="en-US" sz="1150" dirty="0">
                <a:solidFill>
                  <a:schemeClr val="tx1"/>
                </a:solidFill>
              </a:rPr>
              <a:t>AgentRunbook + ApprovalRequest: playbook graduates from propose-only to auto-execute, with an audit trail</a:t>
            </a:r>
            <a:endParaRPr lang="en-US" sz="1150" dirty="0"/>
          </a:p>
        </p:txBody>
      </p:sp>
      <p:sp>
        <p:nvSpPr>
          <p:cNvPr id="19" name="prim-icon-4-circle"/>
          <p:cNvSpPr/>
          <p:nvPr/>
        </p:nvSpPr>
        <p:spPr>
          <a:xfrm>
            <a:off x="457200" y="3557016"/>
            <a:ext cx="502920" cy="502920"/>
          </a:xfrm>
          <a:prstGeom prst="ellipse">
            <a:avLst/>
          </a:prstGeom>
          <a:solidFill>
            <a:schemeClr val="accent1"/>
          </a:solidFill>
          <a:ln/>
        </p:spPr>
      </p:sp>
      <p:pic>
        <p:nvPicPr>
          <p:cNvPr id="20" name="prim-icon-4-img" descr="preencoded.png">    </p:cNvPr>
          <p:cNvPicPr>
            <a:picLocks noChangeAspect="1"/>
          </p:cNvPicPr>
          <p:nvPr/>
        </p:nvPicPr>
        <p:blipFill>
          <a:blip r:embed="rId5"/>
          <a:stretch>
            <a:fillRect/>
          </a:stretch>
        </p:blipFill>
        <p:spPr>
          <a:xfrm>
            <a:off x="567842" y="3667658"/>
            <a:ext cx="281635" cy="281635"/>
          </a:xfrm>
          <a:prstGeom prst="rect">
            <a:avLst/>
          </a:prstGeom>
        </p:spPr>
      </p:pic>
      <p:sp>
        <p:nvSpPr>
          <p:cNvPr id="21" name="Text 14"/>
          <p:cNvSpPr txBox="1"/>
          <p:nvPr/>
        </p:nvSpPr>
        <p:spPr>
          <a:xfrm>
            <a:off x="1143000" y="3511296"/>
            <a:ext cx="3337560" cy="301752"/>
          </a:xfrm>
          <a:prstGeom prst="rect">
            <a:avLst/>
          </a:prstGeom>
          <a:noFill/>
          <a:ln/>
        </p:spPr>
        <p:txBody>
          <a:bodyPr wrap="square" lIns="0" tIns="0" rIns="0" bIns="0" rtlCol="0" anchor="t"/>
          <a:lstStyle/>
          <a:p>
            <a:pPr indent="0" marL="0">
              <a:buNone/>
            </a:pPr>
            <a:r>
              <a:rPr lang="en-US" sz="1400" b="1" dirty="0">
                <a:solidFill>
                  <a:schemeClr val="tx2"/>
                </a:solidFill>
              </a:rPr>
              <a:t>Channel consent ledger</a:t>
            </a:r>
            <a:endParaRPr lang="en-US" sz="1400" dirty="0"/>
          </a:p>
        </p:txBody>
      </p:sp>
      <p:sp>
        <p:nvSpPr>
          <p:cNvPr id="22" name="Text 15"/>
          <p:cNvSpPr txBox="1"/>
          <p:nvPr/>
        </p:nvSpPr>
        <p:spPr>
          <a:xfrm>
            <a:off x="1143000" y="3840480"/>
            <a:ext cx="3337560" cy="731520"/>
          </a:xfrm>
          <a:prstGeom prst="rect">
            <a:avLst/>
          </a:prstGeom>
          <a:noFill/>
          <a:ln/>
        </p:spPr>
        <p:txBody>
          <a:bodyPr wrap="square" lIns="0" tIns="0" rIns="0" bIns="0" rtlCol="0" anchor="t"/>
          <a:lstStyle/>
          <a:p>
            <a:pPr indent="0" marL="0">
              <a:buNone/>
            </a:pPr>
            <a:r>
              <a:rPr lang="en-US" sz="1150" dirty="0">
                <a:solidFill>
                  <a:schemeClr val="tx1"/>
                </a:solidFill>
              </a:rPr>
              <a:t>WhatsApp, SMS, Slack, Telegram… each send logged with why it was allowed</a:t>
            </a:r>
            <a:endParaRPr lang="en-US" sz="1150" dirty="0"/>
          </a:p>
        </p:txBody>
      </p:sp>
      <p:sp>
        <p:nvSpPr>
          <p:cNvPr id="23" name="prim-icon-5-circle"/>
          <p:cNvSpPr/>
          <p:nvPr/>
        </p:nvSpPr>
        <p:spPr>
          <a:xfrm>
            <a:off x="4663440" y="3557016"/>
            <a:ext cx="502920" cy="502920"/>
          </a:xfrm>
          <a:prstGeom prst="ellipse">
            <a:avLst/>
          </a:prstGeom>
          <a:solidFill>
            <a:schemeClr val="accent1"/>
          </a:solidFill>
          <a:ln/>
        </p:spPr>
      </p:sp>
      <p:pic>
        <p:nvPicPr>
          <p:cNvPr id="24" name="prim-icon-5-img" descr="preencoded.png">    </p:cNvPr>
          <p:cNvPicPr>
            <a:picLocks noChangeAspect="1"/>
          </p:cNvPicPr>
          <p:nvPr/>
        </p:nvPicPr>
        <p:blipFill>
          <a:blip r:embed="rId6"/>
          <a:stretch>
            <a:fillRect/>
          </a:stretch>
        </p:blipFill>
        <p:spPr>
          <a:xfrm>
            <a:off x="4774082" y="3667658"/>
            <a:ext cx="281635" cy="281635"/>
          </a:xfrm>
          <a:prstGeom prst="rect">
            <a:avLst/>
          </a:prstGeom>
        </p:spPr>
      </p:pic>
      <p:sp>
        <p:nvSpPr>
          <p:cNvPr id="25" name="Text 17"/>
          <p:cNvSpPr txBox="1"/>
          <p:nvPr/>
        </p:nvSpPr>
        <p:spPr>
          <a:xfrm>
            <a:off x="5349240" y="3511296"/>
            <a:ext cx="3337560" cy="301752"/>
          </a:xfrm>
          <a:prstGeom prst="rect">
            <a:avLst/>
          </a:prstGeom>
          <a:noFill/>
          <a:ln/>
        </p:spPr>
        <p:txBody>
          <a:bodyPr wrap="square" lIns="0" tIns="0" rIns="0" bIns="0" rtlCol="0" anchor="t"/>
          <a:lstStyle/>
          <a:p>
            <a:pPr indent="0" marL="0">
              <a:buNone/>
            </a:pPr>
            <a:r>
              <a:rPr lang="en-US" sz="1400" b="1" dirty="0">
                <a:solidFill>
                  <a:schemeClr val="tx2"/>
                </a:solidFill>
              </a:rPr>
              <a:t>Cross-domain graph</a:t>
            </a:r>
            <a:endParaRPr lang="en-US" sz="1400" dirty="0"/>
          </a:p>
        </p:txBody>
      </p:sp>
      <p:sp>
        <p:nvSpPr>
          <p:cNvPr id="26" name="Text 18"/>
          <p:cNvSpPr txBox="1"/>
          <p:nvPr/>
        </p:nvSpPr>
        <p:spPr>
          <a:xfrm>
            <a:off x="5349240" y="3840480"/>
            <a:ext cx="3337560" cy="731520"/>
          </a:xfrm>
          <a:prstGeom prst="rect">
            <a:avLst/>
          </a:prstGeom>
          <a:noFill/>
          <a:ln/>
        </p:spPr>
        <p:txBody>
          <a:bodyPr wrap="square" lIns="0" tIns="0" rIns="0" bIns="0" rtlCol="0" anchor="t"/>
          <a:lstStyle/>
          <a:p>
            <a:pPr indent="0" marL="0">
              <a:buNone/>
            </a:pPr>
            <a:r>
              <a:rPr lang="en-US" sz="1150" dirty="0">
                <a:solidFill>
                  <a:schemeClr val="tx1"/>
                </a:solidFill>
              </a:rPr>
              <a:t>Same seat reads Ticket, Invoice, Contract, AR aging — none of the competitors can</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What competitors have that we don't</a:t>
            </a:r>
            <a:endParaRPr lang="en-US" sz="2600" dirty="0"/>
          </a:p>
        </p:txBody>
      </p:sp>
      <p:sp>
        <p:nvSpPr>
          <p:cNvPr id="3" name="gap-0"/>
          <p:cNvSpPr/>
          <p:nvPr/>
        </p:nvSpPr>
        <p:spPr>
          <a:xfrm>
            <a:off x="457200" y="1097280"/>
            <a:ext cx="4023360" cy="1188720"/>
          </a:xfrm>
          <a:prstGeom prst="roundRect">
            <a:avLst>
              <a:gd name="adj" fmla="val 6154"/>
            </a:avLst>
          </a:prstGeom>
          <a:solidFill>
            <a:schemeClr val="bg2"/>
          </a:solidFill>
          <a:ln/>
        </p:spPr>
      </p:sp>
      <p:sp>
        <p:nvSpPr>
          <p:cNvPr id="4" name="Text 2"/>
          <p:cNvSpPr txBox="1"/>
          <p:nvPr/>
        </p:nvSpPr>
        <p:spPr>
          <a:xfrm>
            <a:off x="685800" y="1234440"/>
            <a:ext cx="3566160" cy="320040"/>
          </a:xfrm>
          <a:prstGeom prst="rect">
            <a:avLst/>
          </a:prstGeom>
          <a:noFill/>
          <a:ln/>
        </p:spPr>
        <p:txBody>
          <a:bodyPr wrap="square" lIns="0" tIns="0" rIns="0" bIns="0" rtlCol="0" anchor="t"/>
          <a:lstStyle/>
          <a:p>
            <a:pPr indent="0" marL="0">
              <a:buNone/>
            </a:pPr>
            <a:r>
              <a:rPr lang="en-US" sz="1500" b="1" dirty="0">
                <a:solidFill>
                  <a:schemeClr val="accent3"/>
                </a:solidFill>
              </a:rPr>
              <a:t>Prospecting</a:t>
            </a:r>
            <a:endParaRPr lang="en-US" sz="1500" dirty="0"/>
          </a:p>
        </p:txBody>
      </p:sp>
      <p:sp>
        <p:nvSpPr>
          <p:cNvPr id="5" name="Text 3"/>
          <p:cNvSpPr txBox="1"/>
          <p:nvPr/>
        </p:nvSpPr>
        <p:spPr>
          <a:xfrm>
            <a:off x="685800" y="1572768"/>
            <a:ext cx="3566160" cy="640080"/>
          </a:xfrm>
          <a:prstGeom prst="rect">
            <a:avLst/>
          </a:prstGeom>
          <a:noFill/>
          <a:ln/>
        </p:spPr>
        <p:txBody>
          <a:bodyPr wrap="square" lIns="0" tIns="0" rIns="0" bIns="0" rtlCol="0" anchor="t"/>
          <a:lstStyle/>
          <a:p>
            <a:pPr indent="0" marL="0">
              <a:buNone/>
            </a:pPr>
            <a:r>
              <a:rPr lang="en-US" sz="1200" dirty="0">
                <a:solidFill>
                  <a:schemeClr val="tx1"/>
                </a:solidFill>
              </a:rPr>
              <a:t>No enrichment data, no lead-scoring engine (switch exists, nothing computes it), no intent signals</a:t>
            </a:r>
            <a:endParaRPr lang="en-US" sz="1200" dirty="0"/>
          </a:p>
        </p:txBody>
      </p:sp>
      <p:sp>
        <p:nvSpPr>
          <p:cNvPr id="6" name="gap-1"/>
          <p:cNvSpPr/>
          <p:nvPr/>
        </p:nvSpPr>
        <p:spPr>
          <a:xfrm>
            <a:off x="4663440" y="1097280"/>
            <a:ext cx="4023360" cy="1188720"/>
          </a:xfrm>
          <a:prstGeom prst="roundRect">
            <a:avLst>
              <a:gd name="adj" fmla="val 6154"/>
            </a:avLst>
          </a:prstGeom>
          <a:solidFill>
            <a:schemeClr val="bg2"/>
          </a:solidFill>
          <a:ln/>
        </p:spPr>
      </p:sp>
      <p:sp>
        <p:nvSpPr>
          <p:cNvPr id="7" name="Text 5"/>
          <p:cNvSpPr txBox="1"/>
          <p:nvPr/>
        </p:nvSpPr>
        <p:spPr>
          <a:xfrm>
            <a:off x="4892040" y="1234440"/>
            <a:ext cx="3566160" cy="320040"/>
          </a:xfrm>
          <a:prstGeom prst="rect">
            <a:avLst/>
          </a:prstGeom>
          <a:noFill/>
          <a:ln/>
        </p:spPr>
        <p:txBody>
          <a:bodyPr wrap="square" lIns="0" tIns="0" rIns="0" bIns="0" rtlCol="0" anchor="t"/>
          <a:lstStyle/>
          <a:p>
            <a:pPr indent="0" marL="0">
              <a:buNone/>
            </a:pPr>
            <a:r>
              <a:rPr lang="en-US" sz="1500" b="1" dirty="0">
                <a:solidFill>
                  <a:schemeClr val="accent3"/>
                </a:solidFill>
              </a:rPr>
              <a:t>Outbound execution</a:t>
            </a:r>
            <a:endParaRPr lang="en-US" sz="1500" dirty="0"/>
          </a:p>
        </p:txBody>
      </p:sp>
      <p:sp>
        <p:nvSpPr>
          <p:cNvPr id="8" name="Text 6"/>
          <p:cNvSpPr txBox="1"/>
          <p:nvPr/>
        </p:nvSpPr>
        <p:spPr>
          <a:xfrm>
            <a:off x="4892040" y="1572768"/>
            <a:ext cx="3566160" cy="640080"/>
          </a:xfrm>
          <a:prstGeom prst="rect">
            <a:avLst/>
          </a:prstGeom>
          <a:noFill/>
          <a:ln/>
        </p:spPr>
        <p:txBody>
          <a:bodyPr wrap="square" lIns="0" tIns="0" rIns="0" bIns="0" rtlCol="0" anchor="t"/>
          <a:lstStyle/>
          <a:p>
            <a:pPr indent="0" marL="0">
              <a:buNone/>
            </a:pPr>
            <a:r>
              <a:rPr lang="en-US" sz="1200" dirty="0">
                <a:solidFill>
                  <a:schemeClr val="tx1"/>
                </a:solidFill>
              </a:rPr>
              <a:t>No sequence / cadence entity, no dialer, no inbox warm-up or deliverability scoring</a:t>
            </a:r>
            <a:endParaRPr lang="en-US" sz="1200" dirty="0"/>
          </a:p>
        </p:txBody>
      </p:sp>
      <p:sp>
        <p:nvSpPr>
          <p:cNvPr id="9" name="gap-2"/>
          <p:cNvSpPr/>
          <p:nvPr/>
        </p:nvSpPr>
        <p:spPr>
          <a:xfrm>
            <a:off x="457200" y="2468880"/>
            <a:ext cx="4023360" cy="1188720"/>
          </a:xfrm>
          <a:prstGeom prst="roundRect">
            <a:avLst>
              <a:gd name="adj" fmla="val 6154"/>
            </a:avLst>
          </a:prstGeom>
          <a:solidFill>
            <a:schemeClr val="bg2"/>
          </a:solidFill>
          <a:ln/>
        </p:spPr>
      </p:sp>
      <p:sp>
        <p:nvSpPr>
          <p:cNvPr id="10" name="Text 8"/>
          <p:cNvSpPr txBox="1"/>
          <p:nvPr/>
        </p:nvSpPr>
        <p:spPr>
          <a:xfrm>
            <a:off x="685800" y="2606040"/>
            <a:ext cx="3566160" cy="320040"/>
          </a:xfrm>
          <a:prstGeom prst="rect">
            <a:avLst/>
          </a:prstGeom>
          <a:noFill/>
          <a:ln/>
        </p:spPr>
        <p:txBody>
          <a:bodyPr wrap="square" lIns="0" tIns="0" rIns="0" bIns="0" rtlCol="0" anchor="t"/>
          <a:lstStyle/>
          <a:p>
            <a:pPr indent="0" marL="0">
              <a:buNone/>
            </a:pPr>
            <a:r>
              <a:rPr lang="en-US" sz="1500" b="1" dirty="0">
                <a:solidFill>
                  <a:schemeClr val="accent3"/>
                </a:solidFill>
              </a:rPr>
              <a:t>Call intelligence</a:t>
            </a:r>
            <a:endParaRPr lang="en-US" sz="1500" dirty="0"/>
          </a:p>
        </p:txBody>
      </p:sp>
      <p:sp>
        <p:nvSpPr>
          <p:cNvPr id="11" name="Text 9"/>
          <p:cNvSpPr txBox="1"/>
          <p:nvPr/>
        </p:nvSpPr>
        <p:spPr>
          <a:xfrm>
            <a:off x="685800" y="2944368"/>
            <a:ext cx="3566160" cy="640080"/>
          </a:xfrm>
          <a:prstGeom prst="rect">
            <a:avLst/>
          </a:prstGeom>
          <a:noFill/>
          <a:ln/>
        </p:spPr>
        <p:txBody>
          <a:bodyPr wrap="square" lIns="0" tIns="0" rIns="0" bIns="0" rtlCol="0" anchor="t"/>
          <a:lstStyle/>
          <a:p>
            <a:pPr indent="0" marL="0">
              <a:buNone/>
            </a:pPr>
            <a:r>
              <a:rPr lang="en-US" sz="1200" dirty="0">
                <a:solidFill>
                  <a:schemeClr val="tx1"/>
                </a:solidFill>
              </a:rPr>
              <a:t>No recording or transcript entity; no sentiment / objection tagging</a:t>
            </a:r>
            <a:endParaRPr lang="en-US" sz="1200" dirty="0"/>
          </a:p>
        </p:txBody>
      </p:sp>
      <p:sp>
        <p:nvSpPr>
          <p:cNvPr id="12" name="gap-3"/>
          <p:cNvSpPr/>
          <p:nvPr/>
        </p:nvSpPr>
        <p:spPr>
          <a:xfrm>
            <a:off x="4663440" y="2468880"/>
            <a:ext cx="4023360" cy="1188720"/>
          </a:xfrm>
          <a:prstGeom prst="roundRect">
            <a:avLst>
              <a:gd name="adj" fmla="val 6154"/>
            </a:avLst>
          </a:prstGeom>
          <a:solidFill>
            <a:schemeClr val="bg2"/>
          </a:solidFill>
          <a:ln/>
        </p:spPr>
      </p:sp>
      <p:sp>
        <p:nvSpPr>
          <p:cNvPr id="13" name="Text 11"/>
          <p:cNvSpPr txBox="1"/>
          <p:nvPr/>
        </p:nvSpPr>
        <p:spPr>
          <a:xfrm>
            <a:off x="4892040" y="2606040"/>
            <a:ext cx="3566160" cy="320040"/>
          </a:xfrm>
          <a:prstGeom prst="rect">
            <a:avLst/>
          </a:prstGeom>
          <a:noFill/>
          <a:ln/>
        </p:spPr>
        <p:txBody>
          <a:bodyPr wrap="square" lIns="0" tIns="0" rIns="0" bIns="0" rtlCol="0" anchor="t"/>
          <a:lstStyle/>
          <a:p>
            <a:pPr indent="0" marL="0">
              <a:buNone/>
            </a:pPr>
            <a:r>
              <a:rPr lang="en-US" sz="1500" b="1" dirty="0">
                <a:solidFill>
                  <a:schemeClr val="accent3"/>
                </a:solidFill>
              </a:rPr>
              <a:t>Forecasting &amp; coaching</a:t>
            </a:r>
            <a:endParaRPr lang="en-US" sz="1500" dirty="0"/>
          </a:p>
        </p:txBody>
      </p:sp>
      <p:sp>
        <p:nvSpPr>
          <p:cNvPr id="14" name="Text 12"/>
          <p:cNvSpPr txBox="1"/>
          <p:nvPr/>
        </p:nvSpPr>
        <p:spPr>
          <a:xfrm>
            <a:off x="4892040" y="2944368"/>
            <a:ext cx="3566160" cy="640080"/>
          </a:xfrm>
          <a:prstGeom prst="rect">
            <a:avLst/>
          </a:prstGeom>
          <a:noFill/>
          <a:ln/>
        </p:spPr>
        <p:txBody>
          <a:bodyPr wrap="square" lIns="0" tIns="0" rIns="0" bIns="0" rtlCol="0" anchor="t"/>
          <a:lstStyle/>
          <a:p>
            <a:pPr indent="0" marL="0">
              <a:buNone/>
            </a:pPr>
            <a:r>
              <a:rPr lang="en-US" sz="1200" dirty="0">
                <a:solidFill>
                  <a:schemeClr val="tx1"/>
                </a:solidFill>
              </a:rPr>
              <a:t>Deal.probability is manual; no weighted forecast, no rep-performance rollups</a:t>
            </a:r>
            <a:endParaRPr lang="en-US" sz="1200" dirty="0"/>
          </a:p>
        </p:txBody>
      </p:sp>
      <p:sp>
        <p:nvSpPr>
          <p:cNvPr id="15" name="Text 13"/>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250" i="1" dirty="0">
                <a:solidFill>
                  <a:schemeClr val="accent4"/>
                </a:solidFill>
              </a:rPr>
              <a:t>Absent from all 424 entities and 752 endpoints — the data isn't captured, so no agent can fabricate it. Out of scope for this seat.</a:t>
            </a:r>
            <a:endParaRPr lang="en-US" sz="12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rtlCol="0" anchor="b"/>
          <a:lstStyle/>
          <a:p>
            <a:pPr indent="0" marL="0">
              <a:buNone/>
            </a:pPr>
            <a:r>
              <a:rPr lang="en-US" sz="3600" b="1" dirty="0">
                <a:solidFill>
                  <a:schemeClr val="bg1"/>
                </a:solidFill>
              </a:rPr>
              <a:t>2 · What we propose</a:t>
            </a:r>
            <a:endParaRPr lang="en-US" sz="3600" dirty="0"/>
          </a:p>
        </p:txBody>
      </p:sp>
      <p:sp>
        <p:nvSpPr>
          <p:cNvPr id="3" name="Text 0"/>
          <p:cNvSpPr/>
          <p:nvPr>
            <p:ph idx="101" type="body" hasCustomPrompt="1"/>
          </p:nvPr>
        </p:nvSpPr>
        <p:spPr>
          <a:xfrm>
            <a:off x="548640" y="2743200"/>
            <a:ext cx="8046720" cy="731520"/>
          </a:xfrm>
          <a:prstGeom prst="rect">
            <a:avLst/>
          </a:prstGeom>
          <a:noFill/>
          <a:ln/>
        </p:spPr>
        <p:txBody>
          <a:bodyPr wrap="square" rtlCol="0" anchor="t"/>
          <a:lstStyle/>
          <a:p>
            <a:pPr indent="0" marL="0">
              <a:buNone/>
            </a:pPr>
            <a:r>
              <a:rPr lang="en-US" sz="1600" dirty="0">
                <a:solidFill>
                  <a:schemeClr val="accent5"/>
                </a:solidFill>
              </a:rPr>
              <a:t>A five-factor rot score computed today, persisted tomorrow in a DealSnapshot ledger</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A five-factor rot score</a:t>
            </a:r>
            <a:endParaRPr lang="en-US" sz="2600" dirty="0"/>
          </a:p>
        </p:txBody>
      </p:sp>
      <p:graphicFrame>
        <p:nvGraphicFramePr>
          <p:cNvPr id="3" name="rot-weights-chart" descr=""/>
          <p:cNvGraphicFramePr/>
          <p:nvPr/>
        </p:nvGraphicFramePr>
        <p:xfrm>
          <a:off x="365760" y="1005840"/>
          <a:ext cx="4754880" cy="31089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0" y="1051560"/>
            <a:ext cx="3200400" cy="320040"/>
          </a:xfrm>
          <a:prstGeom prst="rect">
            <a:avLst/>
          </a:prstGeom>
          <a:noFill/>
          <a:ln/>
        </p:spPr>
        <p:txBody>
          <a:bodyPr wrap="square" lIns="0" tIns="0" rIns="0" bIns="0" rtlCol="0" anchor="t"/>
          <a:lstStyle/>
          <a:p>
            <a:pPr indent="0" marL="0">
              <a:buNone/>
            </a:pPr>
            <a:r>
              <a:rPr lang="en-US" sz="1500" b="1" dirty="0">
                <a:solidFill>
                  <a:schemeClr val="tx2"/>
                </a:solidFill>
              </a:rPr>
              <a:t>Risk bands</a:t>
            </a:r>
            <a:endParaRPr lang="en-US" sz="1500" dirty="0"/>
          </a:p>
        </p:txBody>
      </p:sp>
      <p:sp>
        <p:nvSpPr>
          <p:cNvPr id="5" name="band-0"/>
          <p:cNvSpPr/>
          <p:nvPr/>
        </p:nvSpPr>
        <p:spPr>
          <a:xfrm>
            <a:off x="5486400" y="1463040"/>
            <a:ext cx="1097280" cy="438912"/>
          </a:xfrm>
          <a:prstGeom prst="roundRect">
            <a:avLst>
              <a:gd name="adj" fmla="val 16667"/>
            </a:avLst>
          </a:prstGeom>
          <a:solidFill>
            <a:schemeClr val="accent1"/>
          </a:solidFill>
          <a:ln/>
        </p:spPr>
      </p:sp>
      <p:sp>
        <p:nvSpPr>
          <p:cNvPr id="6" name="Text 3"/>
          <p:cNvSpPr txBox="1"/>
          <p:nvPr/>
        </p:nvSpPr>
        <p:spPr>
          <a:xfrm>
            <a:off x="5486400" y="1463040"/>
            <a:ext cx="1097280" cy="438912"/>
          </a:xfrm>
          <a:prstGeom prst="rect">
            <a:avLst/>
          </a:prstGeom>
          <a:noFill/>
          <a:ln/>
        </p:spPr>
        <p:txBody>
          <a:bodyPr wrap="square" lIns="0" tIns="0" rIns="0" bIns="0" rtlCol="0" anchor="ctr"/>
          <a:lstStyle/>
          <a:p>
            <a:pPr algn="ctr" indent="0" marL="0">
              <a:buNone/>
            </a:pPr>
            <a:r>
              <a:rPr lang="en-US" sz="1200" b="1" dirty="0">
                <a:solidFill>
                  <a:schemeClr val="bg1"/>
                </a:solidFill>
              </a:rPr>
              <a:t>Healthy</a:t>
            </a:r>
            <a:endParaRPr lang="en-US" sz="1200" dirty="0"/>
          </a:p>
        </p:txBody>
      </p:sp>
      <p:sp>
        <p:nvSpPr>
          <p:cNvPr id="7" name="Text 4"/>
          <p:cNvSpPr txBox="1"/>
          <p:nvPr/>
        </p:nvSpPr>
        <p:spPr>
          <a:xfrm>
            <a:off x="6720840" y="1463040"/>
            <a:ext cx="2011680" cy="438912"/>
          </a:xfrm>
          <a:prstGeom prst="rect">
            <a:avLst/>
          </a:prstGeom>
          <a:noFill/>
          <a:ln/>
        </p:spPr>
        <p:txBody>
          <a:bodyPr wrap="square" lIns="0" tIns="0" rIns="0" bIns="0" rtlCol="0" anchor="ctr"/>
          <a:lstStyle/>
          <a:p>
            <a:pPr indent="0" marL="0">
              <a:buNone/>
            </a:pPr>
            <a:r>
              <a:rPr lang="en-US" sz="1150" dirty="0">
                <a:solidFill>
                  <a:schemeClr val="tx1"/>
                </a:solidFill>
              </a:rPr>
              <a:t>score &lt; 0.50</a:t>
            </a:r>
            <a:endParaRPr lang="en-US" sz="1150" dirty="0"/>
          </a:p>
        </p:txBody>
      </p:sp>
      <p:sp>
        <p:nvSpPr>
          <p:cNvPr id="8" name="band-1"/>
          <p:cNvSpPr/>
          <p:nvPr/>
        </p:nvSpPr>
        <p:spPr>
          <a:xfrm>
            <a:off x="5486400" y="2029968"/>
            <a:ext cx="1097280" cy="438912"/>
          </a:xfrm>
          <a:prstGeom prst="roundRect">
            <a:avLst>
              <a:gd name="adj" fmla="val 16667"/>
            </a:avLst>
          </a:prstGeom>
          <a:solidFill>
            <a:schemeClr val="accent2"/>
          </a:solidFill>
          <a:ln/>
        </p:spPr>
      </p:sp>
      <p:sp>
        <p:nvSpPr>
          <p:cNvPr id="9" name="Text 6"/>
          <p:cNvSpPr txBox="1"/>
          <p:nvPr/>
        </p:nvSpPr>
        <p:spPr>
          <a:xfrm>
            <a:off x="5486400" y="2029968"/>
            <a:ext cx="1097280" cy="438912"/>
          </a:xfrm>
          <a:prstGeom prst="rect">
            <a:avLst/>
          </a:prstGeom>
          <a:noFill/>
          <a:ln/>
        </p:spPr>
        <p:txBody>
          <a:bodyPr wrap="square" lIns="0" tIns="0" rIns="0" bIns="0" rtlCol="0" anchor="ctr"/>
          <a:lstStyle/>
          <a:p>
            <a:pPr algn="ctr" indent="0" marL="0">
              <a:buNone/>
            </a:pPr>
            <a:r>
              <a:rPr lang="en-US" sz="1200" b="1" dirty="0">
                <a:solidFill>
                  <a:schemeClr val="bg1"/>
                </a:solidFill>
              </a:rPr>
              <a:t>At Risk</a:t>
            </a:r>
            <a:endParaRPr lang="en-US" sz="1200" dirty="0"/>
          </a:p>
        </p:txBody>
      </p:sp>
      <p:sp>
        <p:nvSpPr>
          <p:cNvPr id="10" name="Text 7"/>
          <p:cNvSpPr txBox="1"/>
          <p:nvPr/>
        </p:nvSpPr>
        <p:spPr>
          <a:xfrm>
            <a:off x="6720840" y="2029968"/>
            <a:ext cx="2011680" cy="438912"/>
          </a:xfrm>
          <a:prstGeom prst="rect">
            <a:avLst/>
          </a:prstGeom>
          <a:noFill/>
          <a:ln/>
        </p:spPr>
        <p:txBody>
          <a:bodyPr wrap="square" lIns="0" tIns="0" rIns="0" bIns="0" rtlCol="0" anchor="ctr"/>
          <a:lstStyle/>
          <a:p>
            <a:pPr indent="0" marL="0">
              <a:buNone/>
            </a:pPr>
            <a:r>
              <a:rPr lang="en-US" sz="1150" dirty="0">
                <a:solidFill>
                  <a:schemeClr val="tx1"/>
                </a:solidFill>
              </a:rPr>
              <a:t>score ≥ 0.50</a:t>
            </a:r>
            <a:endParaRPr lang="en-US" sz="1150" dirty="0"/>
          </a:p>
        </p:txBody>
      </p:sp>
      <p:sp>
        <p:nvSpPr>
          <p:cNvPr id="11" name="band-2"/>
          <p:cNvSpPr/>
          <p:nvPr/>
        </p:nvSpPr>
        <p:spPr>
          <a:xfrm>
            <a:off x="5486400" y="2596896"/>
            <a:ext cx="1097280" cy="438912"/>
          </a:xfrm>
          <a:prstGeom prst="roundRect">
            <a:avLst>
              <a:gd name="adj" fmla="val 16667"/>
            </a:avLst>
          </a:prstGeom>
          <a:solidFill>
            <a:schemeClr val="accent3"/>
          </a:solidFill>
          <a:ln/>
        </p:spPr>
      </p:sp>
      <p:sp>
        <p:nvSpPr>
          <p:cNvPr id="12" name="Text 9"/>
          <p:cNvSpPr txBox="1"/>
          <p:nvPr/>
        </p:nvSpPr>
        <p:spPr>
          <a:xfrm>
            <a:off x="5486400" y="2596896"/>
            <a:ext cx="1097280" cy="438912"/>
          </a:xfrm>
          <a:prstGeom prst="rect">
            <a:avLst/>
          </a:prstGeom>
          <a:noFill/>
          <a:ln/>
        </p:spPr>
        <p:txBody>
          <a:bodyPr wrap="square" lIns="0" tIns="0" rIns="0" bIns="0" rtlCol="0" anchor="ctr"/>
          <a:lstStyle/>
          <a:p>
            <a:pPr algn="ctr" indent="0" marL="0">
              <a:buNone/>
            </a:pPr>
            <a:r>
              <a:rPr lang="en-US" sz="1200" b="1" dirty="0">
                <a:solidFill>
                  <a:schemeClr val="bg1"/>
                </a:solidFill>
              </a:rPr>
              <a:t>Critical</a:t>
            </a:r>
            <a:endParaRPr lang="en-US" sz="1200" dirty="0"/>
          </a:p>
        </p:txBody>
      </p:sp>
      <p:sp>
        <p:nvSpPr>
          <p:cNvPr id="13" name="Text 10"/>
          <p:cNvSpPr txBox="1"/>
          <p:nvPr/>
        </p:nvSpPr>
        <p:spPr>
          <a:xfrm>
            <a:off x="6720840" y="2596896"/>
            <a:ext cx="2011680" cy="438912"/>
          </a:xfrm>
          <a:prstGeom prst="rect">
            <a:avLst/>
          </a:prstGeom>
          <a:noFill/>
          <a:ln/>
        </p:spPr>
        <p:txBody>
          <a:bodyPr wrap="square" lIns="0" tIns="0" rIns="0" bIns="0" rtlCol="0" anchor="ctr"/>
          <a:lstStyle/>
          <a:p>
            <a:pPr indent="0" marL="0">
              <a:buNone/>
            </a:pPr>
            <a:r>
              <a:rPr lang="en-US" sz="1150" dirty="0">
                <a:solidFill>
                  <a:schemeClr val="tx1"/>
                </a:solidFill>
              </a:rPr>
              <a:t>score ≥ 0.75</a:t>
            </a:r>
            <a:endParaRPr lang="en-US" sz="1150" dirty="0"/>
          </a:p>
        </p:txBody>
      </p:sp>
      <p:sp>
        <p:nvSpPr>
          <p:cNvPr id="14" name="band-3"/>
          <p:cNvSpPr/>
          <p:nvPr/>
        </p:nvSpPr>
        <p:spPr>
          <a:xfrm>
            <a:off x="5486400" y="3163824"/>
            <a:ext cx="1097280" cy="438912"/>
          </a:xfrm>
          <a:prstGeom prst="roundRect">
            <a:avLst>
              <a:gd name="adj" fmla="val 16667"/>
            </a:avLst>
          </a:prstGeom>
          <a:solidFill>
            <a:schemeClr val="accent4"/>
          </a:solidFill>
          <a:ln/>
        </p:spPr>
      </p:sp>
      <p:sp>
        <p:nvSpPr>
          <p:cNvPr id="15" name="Text 12"/>
          <p:cNvSpPr txBox="1"/>
          <p:nvPr/>
        </p:nvSpPr>
        <p:spPr>
          <a:xfrm>
            <a:off x="5486400" y="3163824"/>
            <a:ext cx="1097280" cy="438912"/>
          </a:xfrm>
          <a:prstGeom prst="rect">
            <a:avLst/>
          </a:prstGeom>
          <a:noFill/>
          <a:ln/>
        </p:spPr>
        <p:txBody>
          <a:bodyPr wrap="square" lIns="0" tIns="0" rIns="0" bIns="0" rtlCol="0" anchor="ctr"/>
          <a:lstStyle/>
          <a:p>
            <a:pPr algn="ctr" indent="0" marL="0">
              <a:buNone/>
            </a:pPr>
            <a:r>
              <a:rPr lang="en-US" sz="1200" b="1" dirty="0">
                <a:solidFill>
                  <a:schemeClr val="bg1"/>
                </a:solidFill>
              </a:rPr>
              <a:t>Unknown</a:t>
            </a:r>
            <a:endParaRPr lang="en-US" sz="1200" dirty="0"/>
          </a:p>
        </p:txBody>
      </p:sp>
      <p:sp>
        <p:nvSpPr>
          <p:cNvPr id="16" name="Text 13"/>
          <p:cNvSpPr txBox="1"/>
          <p:nvPr/>
        </p:nvSpPr>
        <p:spPr>
          <a:xfrm>
            <a:off x="6720840" y="3163824"/>
            <a:ext cx="2011680" cy="438912"/>
          </a:xfrm>
          <a:prstGeom prst="rect">
            <a:avLst/>
          </a:prstGeom>
          <a:noFill/>
          <a:ln/>
        </p:spPr>
        <p:txBody>
          <a:bodyPr wrap="square" lIns="0" tIns="0" rIns="0" bIns="0" rtlCol="0" anchor="ctr"/>
          <a:lstStyle/>
          <a:p>
            <a:pPr indent="0" marL="0">
              <a:buNone/>
            </a:pPr>
            <a:r>
              <a:rPr lang="en-US" sz="1150" dirty="0">
                <a:solidFill>
                  <a:schemeClr val="tx1"/>
                </a:solidFill>
              </a:rPr>
              <a:t>no Activity ever = never contacted</a:t>
            </a:r>
            <a:endParaRPr lang="en-US" sz="1150" dirty="0"/>
          </a:p>
        </p:txBody>
      </p:sp>
      <p:sp>
        <p:nvSpPr>
          <p:cNvPr id="17" name="Text 14"/>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150" i="1" dirty="0">
                <a:solidFill>
                  <a:schemeClr val="accent4"/>
                </a:solidFill>
              </a:rPr>
              <a:t>Default weights ported from the msmecrmapp reference and configurable per tenant. Only the inputs are re-derived from AgentSwitch entities. Computable now with the existing seat.</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Why each factor gets its weight</a:t>
            </a:r>
            <a:endParaRPr lang="en-US" sz="2600" dirty="0"/>
          </a:p>
        </p:txBody>
      </p:sp>
      <p:sp>
        <p:nvSpPr>
          <p:cNvPr id="3" name="w-pill-0"/>
          <p:cNvSpPr/>
          <p:nvPr/>
        </p:nvSpPr>
        <p:spPr>
          <a:xfrm>
            <a:off x="457200" y="1060704"/>
            <a:ext cx="685800" cy="402336"/>
          </a:xfrm>
          <a:prstGeom prst="roundRect">
            <a:avLst>
              <a:gd name="adj" fmla="val 18182"/>
            </a:avLst>
          </a:prstGeom>
          <a:solidFill>
            <a:schemeClr val="tx2"/>
          </a:solidFill>
          <a:ln/>
        </p:spPr>
      </p:sp>
      <p:sp>
        <p:nvSpPr>
          <p:cNvPr id="4" name="Text 2"/>
          <p:cNvSpPr txBox="1"/>
          <p:nvPr/>
        </p:nvSpPr>
        <p:spPr>
          <a:xfrm>
            <a:off x="457200" y="1060704"/>
            <a:ext cx="685800" cy="402336"/>
          </a:xfrm>
          <a:prstGeom prst="rect">
            <a:avLst/>
          </a:prstGeom>
          <a:noFill/>
          <a:ln/>
        </p:spPr>
        <p:txBody>
          <a:bodyPr wrap="square" lIns="0" tIns="0" rIns="0" bIns="0" rtlCol="0" anchor="ctr"/>
          <a:lstStyle/>
          <a:p>
            <a:pPr algn="ctr" indent="0" marL="0">
              <a:buNone/>
            </a:pPr>
            <a:r>
              <a:rPr lang="en-US" sz="1400" b="1" dirty="0">
                <a:solidFill>
                  <a:schemeClr val="bg1"/>
                </a:solidFill>
              </a:rPr>
              <a:t>0.35</a:t>
            </a:r>
            <a:endParaRPr lang="en-US" sz="1400" dirty="0"/>
          </a:p>
        </p:txBody>
      </p:sp>
      <p:sp>
        <p:nvSpPr>
          <p:cNvPr id="5" name="Text 3"/>
          <p:cNvSpPr txBox="1"/>
          <p:nvPr/>
        </p:nvSpPr>
        <p:spPr>
          <a:xfrm>
            <a:off x="1325880" y="1005840"/>
            <a:ext cx="2286000" cy="256032"/>
          </a:xfrm>
          <a:prstGeom prst="rect">
            <a:avLst/>
          </a:prstGeom>
          <a:noFill/>
          <a:ln/>
        </p:spPr>
        <p:txBody>
          <a:bodyPr wrap="square" lIns="0" tIns="0" rIns="0" bIns="0" rtlCol="0" anchor="t"/>
          <a:lstStyle/>
          <a:p>
            <a:pPr indent="0" marL="0">
              <a:buNone/>
            </a:pPr>
            <a:r>
              <a:rPr lang="en-US" sz="1300" b="1" dirty="0">
                <a:solidFill>
                  <a:schemeClr val="tx2"/>
                </a:solidFill>
              </a:rPr>
              <a:t>Time in stage</a:t>
            </a:r>
            <a:endParaRPr lang="en-US" sz="1300" dirty="0"/>
          </a:p>
        </p:txBody>
      </p:sp>
      <p:sp>
        <p:nvSpPr>
          <p:cNvPr id="6" name="Text 4"/>
          <p:cNvSpPr txBox="1"/>
          <p:nvPr/>
        </p:nvSpPr>
        <p:spPr>
          <a:xfrm>
            <a:off x="1325880" y="1271016"/>
            <a:ext cx="2423160" cy="274320"/>
          </a:xfrm>
          <a:prstGeom prst="rect">
            <a:avLst/>
          </a:prstGeom>
          <a:noFill/>
          <a:ln/>
        </p:spPr>
        <p:txBody>
          <a:bodyPr wrap="square" lIns="0" tIns="0" rIns="0" bIns="0" rtlCol="0" anchor="t"/>
          <a:lstStyle/>
          <a:p>
            <a:pPr indent="0" marL="0">
              <a:buNone/>
            </a:pPr>
            <a:r>
              <a:rPr lang="en-US" sz="950" i="1" dirty="0">
                <a:solidFill>
                  <a:schemeClr val="accent4"/>
                </a:solidFill>
              </a:rPr>
              <a:t>days in stage ÷ (2 × stage median)</a:t>
            </a:r>
            <a:endParaRPr lang="en-US" sz="950" dirty="0"/>
          </a:p>
        </p:txBody>
      </p:sp>
      <p:sp>
        <p:nvSpPr>
          <p:cNvPr id="7" name="Text 5"/>
          <p:cNvSpPr txBox="1"/>
          <p:nvPr/>
        </p:nvSpPr>
        <p:spPr>
          <a:xfrm>
            <a:off x="3840480" y="1005840"/>
            <a:ext cx="4846320" cy="530352"/>
          </a:xfrm>
          <a:prstGeom prst="rect">
            <a:avLst/>
          </a:prstGeom>
          <a:noFill/>
          <a:ln/>
        </p:spPr>
        <p:txBody>
          <a:bodyPr wrap="square" lIns="0" tIns="0" rIns="0" bIns="0" rtlCol="0" anchor="ctr"/>
          <a:lstStyle/>
          <a:p>
            <a:pPr indent="0" marL="0">
              <a:buNone/>
            </a:pPr>
            <a:r>
              <a:rPr lang="en-US" sz="1100" dirty="0">
                <a:solidFill>
                  <a:schemeClr val="tx1"/>
                </a:solidFill>
              </a:rPr>
              <a:t>Strongest rot signal: a deal stuck at twice its normal stay. Measured against each stage's own median (from closed_won deals), so slow stages aren't penalised.</a:t>
            </a:r>
            <a:endParaRPr lang="en-US" sz="1100" dirty="0"/>
          </a:p>
        </p:txBody>
      </p:sp>
      <p:sp>
        <p:nvSpPr>
          <p:cNvPr id="8" name="w-pill-1"/>
          <p:cNvSpPr/>
          <p:nvPr/>
        </p:nvSpPr>
        <p:spPr>
          <a:xfrm>
            <a:off x="457200" y="1645920"/>
            <a:ext cx="685800" cy="402336"/>
          </a:xfrm>
          <a:prstGeom prst="roundRect">
            <a:avLst>
              <a:gd name="adj" fmla="val 18182"/>
            </a:avLst>
          </a:prstGeom>
          <a:solidFill>
            <a:schemeClr val="accent1"/>
          </a:solidFill>
          <a:ln/>
        </p:spPr>
      </p:sp>
      <p:sp>
        <p:nvSpPr>
          <p:cNvPr id="9" name="Text 7"/>
          <p:cNvSpPr txBox="1"/>
          <p:nvPr/>
        </p:nvSpPr>
        <p:spPr>
          <a:xfrm>
            <a:off x="457200" y="1645920"/>
            <a:ext cx="685800" cy="402336"/>
          </a:xfrm>
          <a:prstGeom prst="rect">
            <a:avLst/>
          </a:prstGeom>
          <a:noFill/>
          <a:ln/>
        </p:spPr>
        <p:txBody>
          <a:bodyPr wrap="square" lIns="0" tIns="0" rIns="0" bIns="0" rtlCol="0" anchor="ctr"/>
          <a:lstStyle/>
          <a:p>
            <a:pPr algn="ctr" indent="0" marL="0">
              <a:buNone/>
            </a:pPr>
            <a:r>
              <a:rPr lang="en-US" sz="1400" b="1" dirty="0">
                <a:solidFill>
                  <a:schemeClr val="bg1"/>
                </a:solidFill>
              </a:rPr>
              <a:t>0.25</a:t>
            </a:r>
            <a:endParaRPr lang="en-US" sz="1400" dirty="0"/>
          </a:p>
        </p:txBody>
      </p:sp>
      <p:sp>
        <p:nvSpPr>
          <p:cNvPr id="10" name="Text 8"/>
          <p:cNvSpPr txBox="1"/>
          <p:nvPr/>
        </p:nvSpPr>
        <p:spPr>
          <a:xfrm>
            <a:off x="1325880" y="1591056"/>
            <a:ext cx="2286000" cy="256032"/>
          </a:xfrm>
          <a:prstGeom prst="rect">
            <a:avLst/>
          </a:prstGeom>
          <a:noFill/>
          <a:ln/>
        </p:spPr>
        <p:txBody>
          <a:bodyPr wrap="square" lIns="0" tIns="0" rIns="0" bIns="0" rtlCol="0" anchor="t"/>
          <a:lstStyle/>
          <a:p>
            <a:pPr indent="0" marL="0">
              <a:buNone/>
            </a:pPr>
            <a:r>
              <a:rPr lang="en-US" sz="1300" b="1" dirty="0">
                <a:solidFill>
                  <a:schemeClr val="tx2"/>
                </a:solidFill>
              </a:rPr>
              <a:t>Days since activity</a:t>
            </a:r>
            <a:endParaRPr lang="en-US" sz="1300" dirty="0"/>
          </a:p>
        </p:txBody>
      </p:sp>
      <p:sp>
        <p:nvSpPr>
          <p:cNvPr id="11" name="Text 9"/>
          <p:cNvSpPr txBox="1"/>
          <p:nvPr/>
        </p:nvSpPr>
        <p:spPr>
          <a:xfrm>
            <a:off x="1325880" y="1856232"/>
            <a:ext cx="2423160" cy="274320"/>
          </a:xfrm>
          <a:prstGeom prst="rect">
            <a:avLst/>
          </a:prstGeom>
          <a:noFill/>
          <a:ln/>
        </p:spPr>
        <p:txBody>
          <a:bodyPr wrap="square" lIns="0" tIns="0" rIns="0" bIns="0" rtlCol="0" anchor="t"/>
          <a:lstStyle/>
          <a:p>
            <a:pPr indent="0" marL="0">
              <a:buNone/>
            </a:pPr>
            <a:r>
              <a:rPr lang="en-US" sz="950" i="1" dirty="0">
                <a:solidFill>
                  <a:schemeClr val="accent4"/>
                </a:solidFill>
              </a:rPr>
              <a:t>days since last done Activity ÷ 30</a:t>
            </a:r>
            <a:endParaRPr lang="en-US" sz="950" dirty="0"/>
          </a:p>
        </p:txBody>
      </p:sp>
      <p:sp>
        <p:nvSpPr>
          <p:cNvPr id="12" name="Text 10"/>
          <p:cNvSpPr txBox="1"/>
          <p:nvPr/>
        </p:nvSpPr>
        <p:spPr>
          <a:xfrm>
            <a:off x="3840480" y="1591056"/>
            <a:ext cx="4846320" cy="530352"/>
          </a:xfrm>
          <a:prstGeom prst="rect">
            <a:avLst/>
          </a:prstGeom>
          <a:noFill/>
          <a:ln/>
        </p:spPr>
        <p:txBody>
          <a:bodyPr wrap="square" lIns="0" tIns="0" rIns="0" bIns="0" rtlCol="0" anchor="ctr"/>
          <a:lstStyle/>
          <a:p>
            <a:pPr indent="0" marL="0">
              <a:buNone/>
            </a:pPr>
            <a:r>
              <a:rPr lang="en-US" sz="1100" dirty="0">
                <a:solidFill>
                  <a:schemeClr val="tx1"/>
                </a:solidFill>
              </a:rPr>
              <a:t>Silence on the deal. Maxes out at 30 days. No Activity at all puts the deal in the Unknown band, which means it has never been contacted.</a:t>
            </a:r>
            <a:endParaRPr lang="en-US" sz="1100" dirty="0"/>
          </a:p>
        </p:txBody>
      </p:sp>
      <p:sp>
        <p:nvSpPr>
          <p:cNvPr id="13" name="w-pill-2"/>
          <p:cNvSpPr/>
          <p:nvPr/>
        </p:nvSpPr>
        <p:spPr>
          <a:xfrm>
            <a:off x="457200" y="2231136"/>
            <a:ext cx="685800" cy="402336"/>
          </a:xfrm>
          <a:prstGeom prst="roundRect">
            <a:avLst>
              <a:gd name="adj" fmla="val 18182"/>
            </a:avLst>
          </a:prstGeom>
          <a:solidFill>
            <a:schemeClr val="accent2"/>
          </a:solidFill>
          <a:ln/>
        </p:spPr>
      </p:sp>
      <p:sp>
        <p:nvSpPr>
          <p:cNvPr id="14" name="Text 12"/>
          <p:cNvSpPr txBox="1"/>
          <p:nvPr/>
        </p:nvSpPr>
        <p:spPr>
          <a:xfrm>
            <a:off x="457200" y="2231136"/>
            <a:ext cx="685800" cy="402336"/>
          </a:xfrm>
          <a:prstGeom prst="rect">
            <a:avLst/>
          </a:prstGeom>
          <a:noFill/>
          <a:ln/>
        </p:spPr>
        <p:txBody>
          <a:bodyPr wrap="square" lIns="0" tIns="0" rIns="0" bIns="0" rtlCol="0" anchor="ctr"/>
          <a:lstStyle/>
          <a:p>
            <a:pPr algn="ctr" indent="0" marL="0">
              <a:buNone/>
            </a:pPr>
            <a:r>
              <a:rPr lang="en-US" sz="1400" b="1" dirty="0">
                <a:solidFill>
                  <a:schemeClr val="bg1"/>
                </a:solidFill>
              </a:rPr>
              <a:t>0.20</a:t>
            </a:r>
            <a:endParaRPr lang="en-US" sz="1400" dirty="0"/>
          </a:p>
        </p:txBody>
      </p:sp>
      <p:sp>
        <p:nvSpPr>
          <p:cNvPr id="15" name="Text 13"/>
          <p:cNvSpPr txBox="1"/>
          <p:nvPr/>
        </p:nvSpPr>
        <p:spPr>
          <a:xfrm>
            <a:off x="1325880" y="2176272"/>
            <a:ext cx="2286000" cy="256032"/>
          </a:xfrm>
          <a:prstGeom prst="rect">
            <a:avLst/>
          </a:prstGeom>
          <a:noFill/>
          <a:ln/>
        </p:spPr>
        <p:txBody>
          <a:bodyPr wrap="square" lIns="0" tIns="0" rIns="0" bIns="0" rtlCol="0" anchor="t"/>
          <a:lstStyle/>
          <a:p>
            <a:pPr indent="0" marL="0">
              <a:buNone/>
            </a:pPr>
            <a:r>
              <a:rPr lang="en-US" sz="1300" b="1" dirty="0">
                <a:solidFill>
                  <a:schemeClr val="tx2"/>
                </a:solidFill>
              </a:rPr>
              <a:t>Close-date slippage</a:t>
            </a:r>
            <a:endParaRPr lang="en-US" sz="1300" dirty="0"/>
          </a:p>
        </p:txBody>
      </p:sp>
      <p:sp>
        <p:nvSpPr>
          <p:cNvPr id="16" name="Text 14"/>
          <p:cNvSpPr txBox="1"/>
          <p:nvPr/>
        </p:nvSpPr>
        <p:spPr>
          <a:xfrm>
            <a:off x="1325880" y="2441448"/>
            <a:ext cx="2423160" cy="274320"/>
          </a:xfrm>
          <a:prstGeom prst="rect">
            <a:avLst/>
          </a:prstGeom>
          <a:noFill/>
          <a:ln/>
        </p:spPr>
        <p:txBody>
          <a:bodyPr wrap="square" lIns="0" tIns="0" rIns="0" bIns="0" rtlCol="0" anchor="t"/>
          <a:lstStyle/>
          <a:p>
            <a:pPr indent="0" marL="0">
              <a:buNone/>
            </a:pPr>
            <a:r>
              <a:rPr lang="en-US" sz="950" i="1" dirty="0">
                <a:solidFill>
                  <a:schemeClr val="accent4"/>
                </a:solidFill>
              </a:rPr>
              <a:t>days past expected_close_date ÷ 45</a:t>
            </a:r>
            <a:endParaRPr lang="en-US" sz="950" dirty="0"/>
          </a:p>
        </p:txBody>
      </p:sp>
      <p:sp>
        <p:nvSpPr>
          <p:cNvPr id="17" name="Text 15"/>
          <p:cNvSpPr txBox="1"/>
          <p:nvPr/>
        </p:nvSpPr>
        <p:spPr>
          <a:xfrm>
            <a:off x="3840480" y="2176272"/>
            <a:ext cx="4846320" cy="530352"/>
          </a:xfrm>
          <a:prstGeom prst="rect">
            <a:avLst/>
          </a:prstGeom>
          <a:noFill/>
          <a:ln/>
        </p:spPr>
        <p:txBody>
          <a:bodyPr wrap="square" lIns="0" tIns="0" rIns="0" bIns="0" rtlCol="0" anchor="ctr"/>
          <a:lstStyle/>
          <a:p>
            <a:pPr indent="0" marL="0">
              <a:buNone/>
            </a:pPr>
            <a:r>
              <a:rPr lang="en-US" sz="1100" dirty="0">
                <a:solidFill>
                  <a:schemeClr val="tx1"/>
                </a:solidFill>
              </a:rPr>
              <a:t>A missed close date means the forecast is unreliable. Counts only after the date passes, and maxes out at 45 days late.</a:t>
            </a:r>
            <a:endParaRPr lang="en-US" sz="1100" dirty="0"/>
          </a:p>
        </p:txBody>
      </p:sp>
      <p:sp>
        <p:nvSpPr>
          <p:cNvPr id="18" name="w-pill-3"/>
          <p:cNvSpPr/>
          <p:nvPr/>
        </p:nvSpPr>
        <p:spPr>
          <a:xfrm>
            <a:off x="457200" y="2816352"/>
            <a:ext cx="685800" cy="402336"/>
          </a:xfrm>
          <a:prstGeom prst="roundRect">
            <a:avLst>
              <a:gd name="adj" fmla="val 18182"/>
            </a:avLst>
          </a:prstGeom>
          <a:solidFill>
            <a:schemeClr val="accent3"/>
          </a:solidFill>
          <a:ln/>
        </p:spPr>
      </p:sp>
      <p:sp>
        <p:nvSpPr>
          <p:cNvPr id="19" name="Text 17"/>
          <p:cNvSpPr txBox="1"/>
          <p:nvPr/>
        </p:nvSpPr>
        <p:spPr>
          <a:xfrm>
            <a:off x="457200" y="2816352"/>
            <a:ext cx="685800" cy="402336"/>
          </a:xfrm>
          <a:prstGeom prst="rect">
            <a:avLst/>
          </a:prstGeom>
          <a:noFill/>
          <a:ln/>
        </p:spPr>
        <p:txBody>
          <a:bodyPr wrap="square" lIns="0" tIns="0" rIns="0" bIns="0" rtlCol="0" anchor="ctr"/>
          <a:lstStyle/>
          <a:p>
            <a:pPr algn="ctr" indent="0" marL="0">
              <a:buNone/>
            </a:pPr>
            <a:r>
              <a:rPr lang="en-US" sz="1400" b="1" dirty="0">
                <a:solidFill>
                  <a:schemeClr val="bg1"/>
                </a:solidFill>
              </a:rPr>
              <a:t>0.15</a:t>
            </a:r>
            <a:endParaRPr lang="en-US" sz="1400" dirty="0"/>
          </a:p>
        </p:txBody>
      </p:sp>
      <p:sp>
        <p:nvSpPr>
          <p:cNvPr id="20" name="Text 18"/>
          <p:cNvSpPr txBox="1"/>
          <p:nvPr/>
        </p:nvSpPr>
        <p:spPr>
          <a:xfrm>
            <a:off x="1325880" y="2761488"/>
            <a:ext cx="2286000" cy="256032"/>
          </a:xfrm>
          <a:prstGeom prst="rect">
            <a:avLst/>
          </a:prstGeom>
          <a:noFill/>
          <a:ln/>
        </p:spPr>
        <p:txBody>
          <a:bodyPr wrap="square" lIns="0" tIns="0" rIns="0" bIns="0" rtlCol="0" anchor="t"/>
          <a:lstStyle/>
          <a:p>
            <a:pPr indent="0" marL="0">
              <a:buNone/>
            </a:pPr>
            <a:r>
              <a:rPr lang="en-US" sz="1300" b="1" dirty="0">
                <a:solidFill>
                  <a:schemeClr val="tx2"/>
                </a:solidFill>
              </a:rPr>
              <a:t>Stage regression</a:t>
            </a:r>
            <a:endParaRPr lang="en-US" sz="1300" dirty="0"/>
          </a:p>
        </p:txBody>
      </p:sp>
      <p:sp>
        <p:nvSpPr>
          <p:cNvPr id="21" name="Text 19"/>
          <p:cNvSpPr txBox="1"/>
          <p:nvPr/>
        </p:nvSpPr>
        <p:spPr>
          <a:xfrm>
            <a:off x="1325880" y="3026664"/>
            <a:ext cx="2423160" cy="274320"/>
          </a:xfrm>
          <a:prstGeom prst="rect">
            <a:avLst/>
          </a:prstGeom>
          <a:noFill/>
          <a:ln/>
        </p:spPr>
        <p:txBody>
          <a:bodyPr wrap="square" lIns="0" tIns="0" rIns="0" bIns="0" rtlCol="0" anchor="t"/>
          <a:lstStyle/>
          <a:p>
            <a:pPr indent="0" marL="0">
              <a:buNone/>
            </a:pPr>
            <a:r>
              <a:rPr lang="en-US" sz="950" i="1" dirty="0">
                <a:solidFill>
                  <a:schemeClr val="accent4"/>
                </a:solidFill>
              </a:rPr>
              <a:t>1 if ever moved backward, else 0</a:t>
            </a:r>
            <a:endParaRPr lang="en-US" sz="950" dirty="0"/>
          </a:p>
        </p:txBody>
      </p:sp>
      <p:sp>
        <p:nvSpPr>
          <p:cNvPr id="22" name="Text 20"/>
          <p:cNvSpPr txBox="1"/>
          <p:nvPr/>
        </p:nvSpPr>
        <p:spPr>
          <a:xfrm>
            <a:off x="3840480" y="2761488"/>
            <a:ext cx="4846320" cy="530352"/>
          </a:xfrm>
          <a:prstGeom prst="rect">
            <a:avLst/>
          </a:prstGeom>
          <a:noFill/>
          <a:ln/>
        </p:spPr>
        <p:txBody>
          <a:bodyPr wrap="square" lIns="0" tIns="0" rIns="0" bIns="0" rtlCol="0" anchor="ctr"/>
          <a:lstStyle/>
          <a:p>
            <a:pPr indent="0" marL="0">
              <a:buNone/>
            </a:pPr>
            <a:r>
              <a:rPr lang="en-US" sz="1100" dirty="0">
                <a:solidFill>
                  <a:schemeClr val="tx1"/>
                </a:solidFill>
              </a:rPr>
              <a:t>A yes/no flag for lost momentum (for example, negotiation back to proposal). It can't measure severity, so it gets a moderate weight.</a:t>
            </a:r>
            <a:endParaRPr lang="en-US" sz="1100" dirty="0"/>
          </a:p>
        </p:txBody>
      </p:sp>
      <p:sp>
        <p:nvSpPr>
          <p:cNvPr id="23" name="w-pill-4"/>
          <p:cNvSpPr/>
          <p:nvPr/>
        </p:nvSpPr>
        <p:spPr>
          <a:xfrm>
            <a:off x="457200" y="3401568"/>
            <a:ext cx="685800" cy="402336"/>
          </a:xfrm>
          <a:prstGeom prst="roundRect">
            <a:avLst>
              <a:gd name="adj" fmla="val 18182"/>
            </a:avLst>
          </a:prstGeom>
          <a:solidFill>
            <a:schemeClr val="accent4"/>
          </a:solidFill>
          <a:ln/>
        </p:spPr>
      </p:sp>
      <p:sp>
        <p:nvSpPr>
          <p:cNvPr id="24" name="Text 22"/>
          <p:cNvSpPr txBox="1"/>
          <p:nvPr/>
        </p:nvSpPr>
        <p:spPr>
          <a:xfrm>
            <a:off x="457200" y="3401568"/>
            <a:ext cx="685800" cy="402336"/>
          </a:xfrm>
          <a:prstGeom prst="rect">
            <a:avLst/>
          </a:prstGeom>
          <a:noFill/>
          <a:ln/>
        </p:spPr>
        <p:txBody>
          <a:bodyPr wrap="square" lIns="0" tIns="0" rIns="0" bIns="0" rtlCol="0" anchor="ctr"/>
          <a:lstStyle/>
          <a:p>
            <a:pPr algn="ctr" indent="0" marL="0">
              <a:buNone/>
            </a:pPr>
            <a:r>
              <a:rPr lang="en-US" sz="1400" b="1" dirty="0">
                <a:solidFill>
                  <a:schemeClr val="bg1"/>
                </a:solidFill>
              </a:rPr>
              <a:t>0.05</a:t>
            </a:r>
            <a:endParaRPr lang="en-US" sz="1400" dirty="0"/>
          </a:p>
        </p:txBody>
      </p:sp>
      <p:sp>
        <p:nvSpPr>
          <p:cNvPr id="25" name="Text 23"/>
          <p:cNvSpPr txBox="1"/>
          <p:nvPr/>
        </p:nvSpPr>
        <p:spPr>
          <a:xfrm>
            <a:off x="1325880" y="3346704"/>
            <a:ext cx="2286000" cy="256032"/>
          </a:xfrm>
          <a:prstGeom prst="rect">
            <a:avLst/>
          </a:prstGeom>
          <a:noFill/>
          <a:ln/>
        </p:spPr>
        <p:txBody>
          <a:bodyPr wrap="square" lIns="0" tIns="0" rIns="0" bIns="0" rtlCol="0" anchor="t"/>
          <a:lstStyle/>
          <a:p>
            <a:pPr indent="0" marL="0">
              <a:buNone/>
            </a:pPr>
            <a:r>
              <a:rPr lang="en-US" sz="1300" b="1" dirty="0">
                <a:solidFill>
                  <a:schemeClr val="tx2"/>
                </a:solidFill>
              </a:rPr>
              <a:t>Deal value</a:t>
            </a:r>
            <a:endParaRPr lang="en-US" sz="1300" dirty="0"/>
          </a:p>
        </p:txBody>
      </p:sp>
      <p:sp>
        <p:nvSpPr>
          <p:cNvPr id="26" name="Text 24"/>
          <p:cNvSpPr txBox="1"/>
          <p:nvPr/>
        </p:nvSpPr>
        <p:spPr>
          <a:xfrm>
            <a:off x="1325880" y="3611880"/>
            <a:ext cx="2423160" cy="274320"/>
          </a:xfrm>
          <a:prstGeom prst="rect">
            <a:avLst/>
          </a:prstGeom>
          <a:noFill/>
          <a:ln/>
        </p:spPr>
        <p:txBody>
          <a:bodyPr wrap="square" lIns="0" tIns="0" rIns="0" bIns="0" rtlCol="0" anchor="t"/>
          <a:lstStyle/>
          <a:p>
            <a:pPr indent="0" marL="0">
              <a:buNone/>
            </a:pPr>
            <a:r>
              <a:rPr lang="en-US" sz="950" i="1" dirty="0">
                <a:solidFill>
                  <a:schemeClr val="accent4"/>
                </a:solidFill>
              </a:rPr>
              <a:t>value ÷ 90th percentile of open deals</a:t>
            </a:r>
            <a:endParaRPr lang="en-US" sz="950" dirty="0"/>
          </a:p>
        </p:txBody>
      </p:sp>
      <p:sp>
        <p:nvSpPr>
          <p:cNvPr id="27" name="Text 25"/>
          <p:cNvSpPr txBox="1"/>
          <p:nvPr/>
        </p:nvSpPr>
        <p:spPr>
          <a:xfrm>
            <a:off x="3840480" y="3346704"/>
            <a:ext cx="4846320" cy="530352"/>
          </a:xfrm>
          <a:prstGeom prst="rect">
            <a:avLst/>
          </a:prstGeom>
          <a:noFill/>
          <a:ln/>
        </p:spPr>
        <p:txBody>
          <a:bodyPr wrap="square" lIns="0" tIns="0" rIns="0" bIns="0" rtlCol="0" anchor="ctr"/>
          <a:lstStyle/>
          <a:p>
            <a:pPr indent="0" marL="0">
              <a:buNone/>
            </a:pPr>
            <a:r>
              <a:rPr lang="en-US" sz="1100" dirty="0">
                <a:solidFill>
                  <a:schemeClr val="tx1"/>
                </a:solidFill>
              </a:rPr>
              <a:t>Tie-breaker that lifts big deals in the ranking. Kept small so a large deal alone never looks rotten.</a:t>
            </a:r>
            <a:endParaRPr lang="en-US" sz="1100" dirty="0"/>
          </a:p>
        </p:txBody>
      </p:sp>
      <p:sp>
        <p:nvSpPr>
          <p:cNvPr id="28" name="config-card"/>
          <p:cNvSpPr/>
          <p:nvPr/>
        </p:nvSpPr>
        <p:spPr>
          <a:xfrm>
            <a:off x="457200" y="4005072"/>
            <a:ext cx="8229600" cy="658368"/>
          </a:xfrm>
          <a:prstGeom prst="roundRect">
            <a:avLst>
              <a:gd name="adj" fmla="val 11111"/>
            </a:avLst>
          </a:prstGeom>
          <a:solidFill>
            <a:schemeClr val="bg2"/>
          </a:solidFill>
          <a:ln/>
        </p:spPr>
      </p:sp>
      <p:sp>
        <p:nvSpPr>
          <p:cNvPr id="29" name="config-icon-circle"/>
          <p:cNvSpPr/>
          <p:nvPr/>
        </p:nvSpPr>
        <p:spPr>
          <a:xfrm>
            <a:off x="594360" y="4105656"/>
            <a:ext cx="457200" cy="457200"/>
          </a:xfrm>
          <a:prstGeom prst="ellipse">
            <a:avLst/>
          </a:prstGeom>
          <a:solidFill>
            <a:schemeClr val="accent1"/>
          </a:solidFill>
          <a:ln/>
        </p:spPr>
      </p:sp>
      <p:pic>
        <p:nvPicPr>
          <p:cNvPr id="30" name="config-icon-img" descr="preencoded.png">    </p:cNvPr>
          <p:cNvPicPr>
            <a:picLocks noChangeAspect="1"/>
          </p:cNvPicPr>
          <p:nvPr/>
        </p:nvPicPr>
        <p:blipFill>
          <a:blip r:embed="rId1"/>
          <a:stretch>
            <a:fillRect/>
          </a:stretch>
        </p:blipFill>
        <p:spPr>
          <a:xfrm>
            <a:off x="694944" y="4206240"/>
            <a:ext cx="256032" cy="256032"/>
          </a:xfrm>
          <a:prstGeom prst="rect">
            <a:avLst/>
          </a:prstGeom>
        </p:spPr>
      </p:pic>
      <p:sp>
        <p:nvSpPr>
          <p:cNvPr id="31" name="Text 28"/>
          <p:cNvSpPr txBox="1"/>
          <p:nvPr/>
        </p:nvSpPr>
        <p:spPr>
          <a:xfrm>
            <a:off x="1188720" y="4050792"/>
            <a:ext cx="7360920" cy="566928"/>
          </a:xfrm>
          <a:prstGeom prst="rect">
            <a:avLst/>
          </a:prstGeom>
          <a:noFill/>
          <a:ln/>
        </p:spPr>
        <p:txBody>
          <a:bodyPr wrap="square" lIns="0" tIns="0" rIns="0" bIns="0" rtlCol="0" anchor="ctr"/>
          <a:lstStyle/>
          <a:p>
            <a:pPr indent="0" marL="0">
              <a:buNone/>
            </a:pPr>
            <a:r>
              <a:rPr lang="en-US" sz="1100" b="1" dirty="0">
                <a:solidFill>
                  <a:schemeClr val="accent1"/>
                </a:solidFill>
              </a:rPr>
              <a:t>Configurable, with these ratios as defaults. </a:t>
            </a:r>
            <a:pPr indent="0" marL="0">
              <a:buNone/>
            </a:pPr>
            <a:r>
              <a:rPr lang="en-US" sz="1100" dirty="0">
                <a:solidFill>
                  <a:schemeClr val="tx1"/>
                </a:solidFill>
              </a:rPr>
              <a:t>A tenant can tune the weights in the skill config without a backend change. They are normalised to sum to 1.0, and each DealSnapshot row records the weights used so scores stay comparable over time.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Explain the score, then persist it</a:t>
            </a:r>
            <a:endParaRPr lang="en-US" sz="2600" dirty="0"/>
          </a:p>
        </p:txBody>
      </p:sp>
      <p:sp>
        <p:nvSpPr>
          <p:cNvPr id="3" name="comment-card"/>
          <p:cNvSpPr/>
          <p:nvPr/>
        </p:nvSpPr>
        <p:spPr>
          <a:xfrm>
            <a:off x="457200" y="1051560"/>
            <a:ext cx="3931920" cy="3566160"/>
          </a:xfrm>
          <a:prstGeom prst="roundRect">
            <a:avLst>
              <a:gd name="adj" fmla="val 2051"/>
            </a:avLst>
          </a:prstGeom>
          <a:solidFill>
            <a:schemeClr val="bg2"/>
          </a:solidFill>
          <a:ln/>
        </p:spPr>
      </p:sp>
      <p:sp>
        <p:nvSpPr>
          <p:cNvPr id="4" name="Text 2"/>
          <p:cNvSpPr txBox="1"/>
          <p:nvPr/>
        </p:nvSpPr>
        <p:spPr>
          <a:xfrm>
            <a:off x="640080" y="1188720"/>
            <a:ext cx="3566160" cy="320040"/>
          </a:xfrm>
          <a:prstGeom prst="rect">
            <a:avLst/>
          </a:prstGeom>
          <a:noFill/>
          <a:ln/>
        </p:spPr>
        <p:txBody>
          <a:bodyPr wrap="square" lIns="0" tIns="0" rIns="0" bIns="0" rtlCol="0" anchor="t"/>
          <a:lstStyle/>
          <a:p>
            <a:pPr indent="0" marL="0">
              <a:buNone/>
            </a:pPr>
            <a:r>
              <a:rPr lang="en-US" sz="1400" b="1" dirty="0">
                <a:solidFill>
                  <a:schemeClr val="tx2"/>
                </a:solidFill>
              </a:rPr>
              <a:t>rot_comment: the dominant driver</a:t>
            </a:r>
            <a:endParaRPr lang="en-US" sz="1400" dirty="0"/>
          </a:p>
        </p:txBody>
      </p:sp>
      <p:sp>
        <p:nvSpPr>
          <p:cNvPr id="5" name="Text 3"/>
          <p:cNvSpPr txBox="1"/>
          <p:nvPr/>
        </p:nvSpPr>
        <p:spPr>
          <a:xfrm>
            <a:off x="640080" y="1600200"/>
            <a:ext cx="3611880" cy="1920240"/>
          </a:xfrm>
          <a:prstGeom prst="rect">
            <a:avLst/>
          </a:prstGeom>
          <a:noFill/>
          <a:ln/>
        </p:spPr>
        <p:txBody>
          <a:bodyPr wrap="square" lIns="0" tIns="0" rIns="0" bIns="0" rtlCol="0" anchor="t"/>
          <a:lstStyle/>
          <a:p>
            <a:pPr marL="342900" indent="-342900">
              <a:spcAft>
                <a:spcPts val="600"/>
              </a:spcAft>
              <a:buSzPct val="100000"/>
              <a:buChar char="•"/>
            </a:pPr>
            <a:r>
              <a:rPr lang="en-US" sz="1200" i="1" dirty="0">
                <a:solidFill>
                  <a:schemeClr val="tx1"/>
                </a:solidFill>
              </a:rPr>
              <a:t>“46 days in negotiation vs. a 20-day typical stay (0.59)”</a:t>
            </a:r>
            <a:endParaRPr lang="en-US" sz="1200" dirty="0"/>
          </a:p>
          <a:p>
            <a:pPr marL="342900" indent="-342900">
              <a:spcAft>
                <a:spcPts val="600"/>
              </a:spcAft>
              <a:buSzPct val="100000"/>
              <a:buChar char="•"/>
            </a:pPr>
            <a:r>
              <a:rPr lang="en-US" sz="1200" i="1" dirty="0">
                <a:solidFill>
                  <a:schemeClr val="tx1"/>
                </a:solidFill>
              </a:rPr>
              <a:t>“No logged Activity in 33 days (0.59)”</a:t>
            </a:r>
            <a:endParaRPr lang="en-US" sz="1200" dirty="0"/>
          </a:p>
          <a:p>
            <a:pPr marL="342900" indent="-342900">
              <a:spcAft>
                <a:spcPts val="600"/>
              </a:spcAft>
              <a:buSzPct val="100000"/>
              <a:buChar char="•"/>
            </a:pPr>
            <a:r>
              <a:rPr lang="en-US" sz="1200" i="1" dirty="0">
                <a:solidFill>
                  <a:schemeClr val="tx1"/>
                </a:solidFill>
              </a:rPr>
              <a:t>“30 days past the expected close date (0.55)”</a:t>
            </a:r>
            <a:endParaRPr lang="en-US" sz="1200" dirty="0"/>
          </a:p>
          <a:p>
            <a:pPr marL="342900" indent="-342900">
              <a:spcAft>
                <a:spcPts val="600"/>
              </a:spcAft>
              <a:buSzPct val="100000"/>
              <a:buChar char="•"/>
            </a:pPr>
            <a:r>
              <a:rPr lang="en-US" sz="1200" i="1" dirty="0">
                <a:solidFill>
                  <a:schemeClr val="tx1"/>
                </a:solidFill>
              </a:rPr>
              <a:t>“Rot score unavailable — no Activity record exists”</a:t>
            </a:r>
            <a:endParaRPr lang="en-US" sz="1200" dirty="0"/>
          </a:p>
        </p:txBody>
      </p:sp>
      <p:sp>
        <p:nvSpPr>
          <p:cNvPr id="6" name="Text 4"/>
          <p:cNvSpPr txBox="1"/>
          <p:nvPr/>
        </p:nvSpPr>
        <p:spPr>
          <a:xfrm>
            <a:off x="640080" y="3794760"/>
            <a:ext cx="3566160" cy="640080"/>
          </a:xfrm>
          <a:prstGeom prst="rect">
            <a:avLst/>
          </a:prstGeom>
          <a:noFill/>
          <a:ln/>
        </p:spPr>
        <p:txBody>
          <a:bodyPr wrap="square" lIns="0" tIns="0" rIns="0" bIns="0" rtlCol="0" anchor="t"/>
          <a:lstStyle/>
          <a:p>
            <a:pPr indent="0" marL="0">
              <a:buNone/>
            </a:pPr>
            <a:r>
              <a:rPr lang="en-US" sz="1150" b="1" dirty="0">
                <a:solidFill>
                  <a:schemeClr val="accent1"/>
                </a:solidFill>
              </a:rPr>
              <a:t>Ranked by weight × sub-score. The comment is usually the next action.</a:t>
            </a:r>
            <a:endParaRPr lang="en-US" sz="1150" dirty="0"/>
          </a:p>
        </p:txBody>
      </p:sp>
      <p:sp>
        <p:nvSpPr>
          <p:cNvPr id="7" name="snapshot-card"/>
          <p:cNvSpPr/>
          <p:nvPr/>
        </p:nvSpPr>
        <p:spPr>
          <a:xfrm>
            <a:off x="4663440" y="1051560"/>
            <a:ext cx="4023360" cy="3566160"/>
          </a:xfrm>
          <a:prstGeom prst="roundRect">
            <a:avLst>
              <a:gd name="adj" fmla="val 2051"/>
            </a:avLst>
          </a:prstGeom>
          <a:solidFill>
            <a:schemeClr val="bg2"/>
          </a:solidFill>
          <a:ln/>
        </p:spPr>
      </p:sp>
      <p:sp>
        <p:nvSpPr>
          <p:cNvPr id="8" name="snap-icon-circle"/>
          <p:cNvSpPr/>
          <p:nvPr/>
        </p:nvSpPr>
        <p:spPr>
          <a:xfrm>
            <a:off x="4846320" y="1188720"/>
            <a:ext cx="457200" cy="457200"/>
          </a:xfrm>
          <a:prstGeom prst="ellipse">
            <a:avLst/>
          </a:prstGeom>
          <a:solidFill>
            <a:schemeClr val="tx2"/>
          </a:solidFill>
          <a:ln/>
        </p:spPr>
      </p:sp>
      <p:pic>
        <p:nvPicPr>
          <p:cNvPr id="9" name="snap-icon-img" descr="preencoded.png">    </p:cNvPr>
          <p:cNvPicPr>
            <a:picLocks noChangeAspect="1"/>
          </p:cNvPicPr>
          <p:nvPr/>
        </p:nvPicPr>
        <p:blipFill>
          <a:blip r:embed="rId1"/>
          <a:stretch>
            <a:fillRect/>
          </a:stretch>
        </p:blipFill>
        <p:spPr>
          <a:xfrm>
            <a:off x="4946904" y="1289304"/>
            <a:ext cx="256032" cy="256032"/>
          </a:xfrm>
          <a:prstGeom prst="rect">
            <a:avLst/>
          </a:prstGeom>
        </p:spPr>
      </p:pic>
      <p:sp>
        <p:nvSpPr>
          <p:cNvPr id="10" name="Text 7"/>
          <p:cNvSpPr txBox="1"/>
          <p:nvPr/>
        </p:nvSpPr>
        <p:spPr>
          <a:xfrm>
            <a:off x="5440680" y="1188720"/>
            <a:ext cx="3108960" cy="457200"/>
          </a:xfrm>
          <a:prstGeom prst="rect">
            <a:avLst/>
          </a:prstGeom>
          <a:noFill/>
          <a:ln/>
        </p:spPr>
        <p:txBody>
          <a:bodyPr wrap="square" lIns="0" tIns="0" rIns="0" bIns="0" rtlCol="0" anchor="ctr"/>
          <a:lstStyle/>
          <a:p>
            <a:pPr indent="0" marL="0">
              <a:buNone/>
            </a:pPr>
            <a:r>
              <a:rPr lang="en-US" sz="1400" b="1" dirty="0">
                <a:solidFill>
                  <a:schemeClr val="tx2"/>
                </a:solidFill>
              </a:rPr>
              <a:t>New: DealSnapshot ledger</a:t>
            </a:r>
            <a:endParaRPr lang="en-US" sz="1400" dirty="0"/>
          </a:p>
        </p:txBody>
      </p:sp>
      <p:sp>
        <p:nvSpPr>
          <p:cNvPr id="11" name="Text 8"/>
          <p:cNvSpPr txBox="1"/>
          <p:nvPr/>
        </p:nvSpPr>
        <p:spPr>
          <a:xfrm>
            <a:off x="4846320" y="1783080"/>
            <a:ext cx="3657600" cy="20116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rPr>
              <a:t>Domain sales, kind ledger; key (deal_id, captured_at)</a:t>
            </a:r>
            <a:endParaRPr lang="en-US" sz="1150" dirty="0"/>
          </a:p>
          <a:p>
            <a:pPr marL="342900" indent="-342900">
              <a:spcAft>
                <a:spcPts val="500"/>
              </a:spcAft>
              <a:buSzPct val="100000"/>
              <a:buChar char="•"/>
            </a:pPr>
            <a:r>
              <a:rPr lang="en-US" sz="1150" dirty="0">
                <a:solidFill>
                  <a:schemeClr val="tx1"/>
                </a:solidFill>
              </a:rPr>
              <a:t>Point-in-time stage_history, rot_score, rot_comment</a:t>
            </a:r>
            <a:endParaRPr lang="en-US" sz="1150" dirty="0"/>
          </a:p>
          <a:p>
            <a:pPr marL="342900" indent="-342900">
              <a:spcAft>
                <a:spcPts val="500"/>
              </a:spcAft>
              <a:buSzPct val="100000"/>
              <a:buChar char="•"/>
            </a:pPr>
            <a:r>
              <a:rPr lang="en-US" sz="1150" dirty="0">
                <a:solidFill>
                  <a:schemeClr val="tx1"/>
                </a:solidFill>
              </a:rPr>
              <a:t>Frozen value, owner, party_id, expected_close_date</a:t>
            </a:r>
            <a:endParaRPr lang="en-US" sz="1150" dirty="0"/>
          </a:p>
          <a:p>
            <a:pPr marL="342900" indent="-342900">
              <a:spcAft>
                <a:spcPts val="500"/>
              </a:spcAft>
              <a:buSzPct val="100000"/>
              <a:buChar char="•"/>
            </a:pPr>
            <a:r>
              <a:rPr lang="en-US" sz="1150" dirty="0">
                <a:solidFill>
                  <a:schemeClr val="tx1"/>
                </a:solidFill>
              </a:rPr>
              <a:t>snapshot_reason: scheduled · stage_transition · escalation · manual</a:t>
            </a:r>
            <a:endParaRPr lang="en-US" sz="1150" dirty="0"/>
          </a:p>
          <a:p>
            <a:pPr marL="342900" indent="-342900">
              <a:spcAft>
                <a:spcPts val="500"/>
              </a:spcAft>
              <a:buSzPct val="100000"/>
              <a:buChar char="•"/>
            </a:pPr>
            <a:r>
              <a:rPr lang="en-US" sz="1150" dirty="0">
                <a:solidFill>
                  <a:schemeClr val="tx1"/>
                </a:solidFill>
              </a:rPr>
              <a:t>Score NULL for closed_won / closed_lost</a:t>
            </a:r>
            <a:endParaRPr lang="en-US" sz="1150" dirty="0"/>
          </a:p>
        </p:txBody>
      </p:sp>
      <p:sp>
        <p:nvSpPr>
          <p:cNvPr id="12" name="Text 9"/>
          <p:cNvSpPr txBox="1"/>
          <p:nvPr/>
        </p:nvSpPr>
        <p:spPr>
          <a:xfrm>
            <a:off x="4846320" y="3886200"/>
            <a:ext cx="3657600" cy="548640"/>
          </a:xfrm>
          <a:prstGeom prst="rect">
            <a:avLst/>
          </a:prstGeom>
          <a:noFill/>
          <a:ln/>
        </p:spPr>
        <p:txBody>
          <a:bodyPr wrap="square" lIns="0" tIns="0" rIns="0" bIns="0" rtlCol="0" anchor="t"/>
          <a:lstStyle/>
          <a:p>
            <a:pPr indent="0" marL="0">
              <a:buNone/>
            </a:pPr>
            <a:r>
              <a:rPr lang="en-US" sz="1150" b="1" dirty="0">
                <a:solidFill>
                  <a:schemeClr val="accent1"/>
                </a:solidFill>
              </a:rPr>
              <a:t>Enables trend questions: “is this deal getting worse?”</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Build now vs. needs new backend</a:t>
            </a:r>
            <a:endParaRPr lang="en-US" sz="2600" dirty="0"/>
          </a:p>
        </p:txBody>
      </p:sp>
      <p:sp>
        <p:nvSpPr>
          <p:cNvPr id="3" name="col-0"/>
          <p:cNvSpPr/>
          <p:nvPr/>
        </p:nvSpPr>
        <p:spPr>
          <a:xfrm>
            <a:off x="457200" y="1051560"/>
            <a:ext cx="4023360" cy="3566160"/>
          </a:xfrm>
          <a:prstGeom prst="roundRect">
            <a:avLst>
              <a:gd name="adj" fmla="val 2051"/>
            </a:avLst>
          </a:prstGeom>
          <a:solidFill>
            <a:schemeClr val="bg2"/>
          </a:solidFill>
          <a:ln/>
        </p:spPr>
      </p:sp>
      <p:sp>
        <p:nvSpPr>
          <p:cNvPr id="4" name="col-icon-0-circle"/>
          <p:cNvSpPr/>
          <p:nvPr/>
        </p:nvSpPr>
        <p:spPr>
          <a:xfrm>
            <a:off x="640080" y="1188720"/>
            <a:ext cx="457200" cy="457200"/>
          </a:xfrm>
          <a:prstGeom prst="ellipse">
            <a:avLst/>
          </a:prstGeom>
          <a:solidFill>
            <a:schemeClr val="accent1"/>
          </a:solidFill>
          <a:ln/>
        </p:spPr>
      </p:sp>
      <p:pic>
        <p:nvPicPr>
          <p:cNvPr id="5" name="col-icon-0-img" descr="preencoded.png">    </p:cNvPr>
          <p:cNvPicPr>
            <a:picLocks noChangeAspect="1"/>
          </p:cNvPicPr>
          <p:nvPr/>
        </p:nvPicPr>
        <p:blipFill>
          <a:blip r:embed="rId1"/>
          <a:stretch>
            <a:fillRect/>
          </a:stretch>
        </p:blipFill>
        <p:spPr>
          <a:xfrm>
            <a:off x="740664" y="1289304"/>
            <a:ext cx="256032" cy="256032"/>
          </a:xfrm>
          <a:prstGeom prst="rect">
            <a:avLst/>
          </a:prstGeom>
        </p:spPr>
      </p:pic>
      <p:sp>
        <p:nvSpPr>
          <p:cNvPr id="6" name="Text 3"/>
          <p:cNvSpPr txBox="1"/>
          <p:nvPr/>
        </p:nvSpPr>
        <p:spPr>
          <a:xfrm>
            <a:off x="1234440" y="1188720"/>
            <a:ext cx="3108960" cy="457200"/>
          </a:xfrm>
          <a:prstGeom prst="rect">
            <a:avLst/>
          </a:prstGeom>
          <a:noFill/>
          <a:ln/>
        </p:spPr>
        <p:txBody>
          <a:bodyPr wrap="square" lIns="0" tIns="0" rIns="0" bIns="0" rtlCol="0" anchor="ctr"/>
          <a:lstStyle/>
          <a:p>
            <a:pPr indent="0" marL="0">
              <a:buNone/>
            </a:pPr>
            <a:r>
              <a:rPr lang="en-US" sz="1400" b="1" dirty="0">
                <a:solidFill>
                  <a:schemeClr val="tx2"/>
                </a:solidFill>
              </a:rPr>
              <a:t>Orchestration only — this week</a:t>
            </a:r>
            <a:endParaRPr lang="en-US" sz="1400" dirty="0"/>
          </a:p>
        </p:txBody>
      </p:sp>
      <p:sp>
        <p:nvSpPr>
          <p:cNvPr id="7" name="Text 4"/>
          <p:cNvSpPr txBox="1"/>
          <p:nvPr/>
        </p:nvSpPr>
        <p:spPr>
          <a:xfrm>
            <a:off x="640080" y="1828800"/>
            <a:ext cx="3657600" cy="26517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1"/>
                </a:solidFill>
              </a:rPr>
              <a:t>Author an AgentSkill chaining list / get / report / create</a:t>
            </a:r>
            <a:endParaRPr lang="en-US" sz="1250" dirty="0"/>
          </a:p>
          <a:p>
            <a:pPr marL="342900" indent="-342900">
              <a:spcAft>
                <a:spcPts val="800"/>
              </a:spcAft>
              <a:buSzPct val="100000"/>
              <a:buChar char="•"/>
            </a:pPr>
            <a:r>
              <a:rPr lang="en-US" sz="1250" dirty="0">
                <a:solidFill>
                  <a:schemeClr val="tx1"/>
                </a:solidFill>
              </a:rPr>
              <a:t>Compute the five-factor rot score live</a:t>
            </a:r>
            <a:endParaRPr lang="en-US" sz="1250" dirty="0"/>
          </a:p>
          <a:p>
            <a:pPr marL="342900" indent="-342900">
              <a:spcAft>
                <a:spcPts val="800"/>
              </a:spcAft>
              <a:buSzPct val="100000"/>
              <a:buChar char="•"/>
            </a:pPr>
            <a:r>
              <a:rPr lang="en-US" sz="1250" dirty="0">
                <a:solidFill>
                  <a:schemeClr val="tx1"/>
                </a:solidFill>
              </a:rPr>
              <a:t>Schedule it as an AgentTask (weekly)</a:t>
            </a:r>
            <a:endParaRPr lang="en-US" sz="1250" dirty="0"/>
          </a:p>
          <a:p>
            <a:pPr marL="342900" indent="-342900">
              <a:spcAft>
                <a:spcPts val="800"/>
              </a:spcAft>
              <a:buSzPct val="100000"/>
              <a:buChar char="•"/>
            </a:pPr>
            <a:r>
              <a:rPr lang="en-US" sz="1250" dirty="0">
                <a:solidFill>
                  <a:schemeClr val="tx1"/>
                </a:solidFill>
              </a:rPr>
              <a:t>Escalate via AgentEscalation, dedupe via AgentMemory</a:t>
            </a:r>
            <a:endParaRPr lang="en-US" sz="1250" dirty="0"/>
          </a:p>
          <a:p>
            <a:pPr marL="342900" indent="-342900">
              <a:spcAft>
                <a:spcPts val="800"/>
              </a:spcAft>
              <a:buSzPct val="100000"/>
              <a:buChar char="•"/>
            </a:pPr>
            <a:r>
              <a:rPr lang="en-US" sz="1250" dirty="0">
                <a:solidFill>
                  <a:schemeClr val="tx1"/>
                </a:solidFill>
              </a:rPr>
              <a:t>Gate auto-actions with AgentRunbook + ApprovalRequest</a:t>
            </a:r>
            <a:endParaRPr lang="en-US" sz="1250" dirty="0"/>
          </a:p>
        </p:txBody>
      </p:sp>
      <p:sp>
        <p:nvSpPr>
          <p:cNvPr id="8" name="col-1"/>
          <p:cNvSpPr/>
          <p:nvPr/>
        </p:nvSpPr>
        <p:spPr>
          <a:xfrm>
            <a:off x="4663440" y="1051560"/>
            <a:ext cx="4023360" cy="3566160"/>
          </a:xfrm>
          <a:prstGeom prst="roundRect">
            <a:avLst>
              <a:gd name="adj" fmla="val 2051"/>
            </a:avLst>
          </a:prstGeom>
          <a:solidFill>
            <a:schemeClr val="bg2"/>
          </a:solidFill>
          <a:ln/>
        </p:spPr>
      </p:sp>
      <p:sp>
        <p:nvSpPr>
          <p:cNvPr id="9" name="col-icon-1-circle"/>
          <p:cNvSpPr/>
          <p:nvPr/>
        </p:nvSpPr>
        <p:spPr>
          <a:xfrm>
            <a:off x="4846320" y="1188720"/>
            <a:ext cx="457200" cy="457200"/>
          </a:xfrm>
          <a:prstGeom prst="ellipse">
            <a:avLst/>
          </a:prstGeom>
          <a:solidFill>
            <a:schemeClr val="accent2"/>
          </a:solidFill>
          <a:ln/>
        </p:spPr>
      </p:sp>
      <p:pic>
        <p:nvPicPr>
          <p:cNvPr id="10" name="col-icon-1-img" descr="preencoded.png">    </p:cNvPr>
          <p:cNvPicPr>
            <a:picLocks noChangeAspect="1"/>
          </p:cNvPicPr>
          <p:nvPr/>
        </p:nvPicPr>
        <p:blipFill>
          <a:blip r:embed="rId2"/>
          <a:stretch>
            <a:fillRect/>
          </a:stretch>
        </p:blipFill>
        <p:spPr>
          <a:xfrm>
            <a:off x="4946904" y="1289304"/>
            <a:ext cx="256032" cy="256032"/>
          </a:xfrm>
          <a:prstGeom prst="rect">
            <a:avLst/>
          </a:prstGeom>
        </p:spPr>
      </p:pic>
      <p:sp>
        <p:nvSpPr>
          <p:cNvPr id="11" name="Text 7"/>
          <p:cNvSpPr txBox="1"/>
          <p:nvPr/>
        </p:nvSpPr>
        <p:spPr>
          <a:xfrm>
            <a:off x="5440680" y="1188720"/>
            <a:ext cx="3108960" cy="457200"/>
          </a:xfrm>
          <a:prstGeom prst="rect">
            <a:avLst/>
          </a:prstGeom>
          <a:noFill/>
          <a:ln/>
        </p:spPr>
        <p:txBody>
          <a:bodyPr wrap="square" lIns="0" tIns="0" rIns="0" bIns="0" rtlCol="0" anchor="ctr"/>
          <a:lstStyle/>
          <a:p>
            <a:pPr indent="0" marL="0">
              <a:buNone/>
            </a:pPr>
            <a:r>
              <a:rPr lang="en-US" sz="1400" b="1" dirty="0">
                <a:solidFill>
                  <a:schemeClr val="tx2"/>
                </a:solidFill>
              </a:rPr>
              <a:t>Platform changes — backend team</a:t>
            </a:r>
            <a:endParaRPr lang="en-US" sz="1400" dirty="0"/>
          </a:p>
        </p:txBody>
      </p:sp>
      <p:sp>
        <p:nvSpPr>
          <p:cNvPr id="12" name="Text 8"/>
          <p:cNvSpPr txBox="1"/>
          <p:nvPr/>
        </p:nvSpPr>
        <p:spPr>
          <a:xfrm>
            <a:off x="4846320" y="1828800"/>
            <a:ext cx="3657600" cy="26517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1"/>
                </a:solidFill>
              </a:rPr>
              <a:t>Server-side rot_level / min_rot_days filter on Deal.list</a:t>
            </a:r>
            <a:endParaRPr lang="en-US" sz="1250" dirty="0"/>
          </a:p>
          <a:p>
            <a:pPr marL="342900" indent="-342900">
              <a:spcAft>
                <a:spcPts val="800"/>
              </a:spcAft>
              <a:buSzPct val="100000"/>
              <a:buChar char="•"/>
            </a:pPr>
            <a:r>
              <a:rPr lang="en-US" sz="1250" dirty="0">
                <a:solidFill>
                  <a:schemeClr val="tx1"/>
                </a:solidFill>
              </a:rPr>
              <a:t>Optional next_action text + date on Deal</a:t>
            </a:r>
            <a:endParaRPr lang="en-US" sz="1250" dirty="0"/>
          </a:p>
          <a:p>
            <a:pPr marL="342900" indent="-342900">
              <a:spcAft>
                <a:spcPts val="800"/>
              </a:spcAft>
              <a:buSzPct val="100000"/>
              <a:buChar char="•"/>
            </a:pPr>
            <a:r>
              <a:rPr lang="en-US" sz="1250" dirty="0">
                <a:solidFill>
                  <a:schemeClr val="tx1"/>
                </a:solidFill>
              </a:rPr>
              <a:t>DealSnapshot ledger table + CRUD / MCP tools</a:t>
            </a:r>
            <a:endParaRPr lang="en-US" sz="1250" dirty="0"/>
          </a:p>
          <a:p>
            <a:pPr marL="342900" indent="-342900">
              <a:spcAft>
                <a:spcPts val="800"/>
              </a:spcAft>
              <a:buSzPct val="100000"/>
              <a:buChar char="•"/>
            </a:pPr>
            <a:r>
              <a:rPr lang="en-US" sz="1250" dirty="0">
                <a:solidFill>
                  <a:schemeClr val="tx1"/>
                </a:solidFill>
              </a:rPr>
              <a:t>Lead-scoring engine behind the existing switch</a:t>
            </a:r>
            <a:endParaRPr lang="en-US" sz="1250" dirty="0"/>
          </a:p>
          <a:p>
            <a:pPr marL="342900" indent="-342900">
              <a:spcAft>
                <a:spcPts val="800"/>
              </a:spcAft>
              <a:buSzPct val="100000"/>
              <a:buChar char="•"/>
            </a:pPr>
            <a:r>
              <a:rPr lang="en-US" sz="1250" dirty="0">
                <a:solidFill>
                  <a:schemeClr val="tx1"/>
                </a:solidFill>
              </a:rPr>
              <a:t>Later: recording, sequences, enrichment, forecasting</a:t>
            </a:r>
            <a:endParaRPr lang="en-US" sz="12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822960"/>
          </a:xfrm>
          <a:prstGeom prst="rect">
            <a:avLst/>
          </a:prstGeom>
          <a:noFill/>
          <a:ln/>
        </p:spPr>
        <p:txBody>
          <a:bodyPr wrap="square" rtlCol="0" anchor="b"/>
          <a:lstStyle/>
          <a:p>
            <a:pPr indent="0" marL="0">
              <a:buNone/>
            </a:pPr>
            <a:r>
              <a:rPr lang="en-US" sz="3600" b="1" dirty="0">
                <a:solidFill>
                  <a:schemeClr val="bg1"/>
                </a:solidFill>
              </a:rPr>
              <a:t>3 · Impact on other modules</a:t>
            </a:r>
            <a:endParaRPr lang="en-US" sz="3600" dirty="0"/>
          </a:p>
        </p:txBody>
      </p:sp>
      <p:sp>
        <p:nvSpPr>
          <p:cNvPr id="3" name="Text 0"/>
          <p:cNvSpPr/>
          <p:nvPr>
            <p:ph idx="101" type="body" hasCustomPrompt="1"/>
          </p:nvPr>
        </p:nvSpPr>
        <p:spPr>
          <a:xfrm>
            <a:off x="548640" y="2743200"/>
            <a:ext cx="8046720" cy="731520"/>
          </a:xfrm>
          <a:prstGeom prst="rect">
            <a:avLst/>
          </a:prstGeom>
          <a:noFill/>
          <a:ln/>
        </p:spPr>
        <p:txBody>
          <a:bodyPr wrap="square" rtlCol="0" anchor="t"/>
          <a:lstStyle/>
          <a:p>
            <a:pPr indent="0" marL="0">
              <a:buNone/>
            </a:pPr>
            <a:r>
              <a:rPr lang="en-US" sz="1600" dirty="0">
                <a:solidFill>
                  <a:schemeClr val="accent5"/>
                </a:solidFill>
              </a:rPr>
              <a:t>Where the proposal writes, reads, or changes schema outside the Deal record</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Impact map by module</a:t>
            </a:r>
            <a:endParaRPr lang="en-US" sz="2600" dirty="0"/>
          </a:p>
        </p:txBody>
      </p:sp>
      <p:graphicFrame>
        <p:nvGraphicFramePr>
          <p:cNvPr id="14" name="impact-table"/>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920240"/>
                <a:gridCol w="4937760"/>
                <a:gridCol w="1371600"/>
              </a:tblGrid>
              <a:tr h="384048">
                <a:tc>
                  <a:txBody>
                    <a:bodyPr/>
                    <a:lstStyle/>
                    <a:p>
                      <a:pPr indent="0" marL="0">
                        <a:buNone/>
                      </a:pPr>
                      <a:r>
                        <a:rPr lang="en-US" sz="1100" b="1" dirty="0">
                          <a:solidFill>
                            <a:schemeClr val="bg1"/>
                          </a:solidFill>
                        </a:rPr>
                        <a:t>Module</a:t>
                      </a:r>
                      <a:endParaRPr lang="en-US" sz="110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What changes</a:t>
                      </a:r>
                      <a:endParaRPr lang="en-US" sz="110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Impact</a:t>
                      </a:r>
                      <a:endParaRPr lang="en-US" sz="110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r>
              <a:tr h="384048">
                <a:tc>
                  <a:txBody>
                    <a:bodyPr/>
                    <a:lstStyle/>
                    <a:p>
                      <a:pPr indent="0" marL="0">
                        <a:buNone/>
                      </a:pPr>
                      <a:r>
                        <a:rPr lang="en-US" sz="1050" dirty="0">
                          <a:solidFill>
                            <a:schemeClr val="tx1"/>
                          </a:solidFill>
                        </a:rPr>
                        <a:t>Sales — Deal / DealFlow</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New rot filter on Deal.list; optional next_action fields; stage transitions trigger a snapshot row</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3"/>
                          </a:solidFill>
                        </a:rPr>
                        <a:t>SCHEMA CHANGE</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384048">
                <a:tc>
                  <a:txBody>
                    <a:bodyPr/>
                    <a:lstStyle/>
                    <a:p>
                      <a:pPr indent="0" marL="0">
                        <a:buNone/>
                      </a:pPr>
                      <a:r>
                        <a:rPr lang="en-US" sz="1050" dirty="0">
                          <a:solidFill>
                            <a:schemeClr val="tx1"/>
                          </a:solidFill>
                        </a:rPr>
                        <a:t>Sales — DealSnapshot (new)</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New ledger entity, one row per deal per capture; grows weekly + on every transition / escalation</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3"/>
                          </a:solidFill>
                        </a:rPr>
                        <a:t>NEW TABLE</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384048">
                <a:tc>
                  <a:txBody>
                    <a:bodyPr/>
                    <a:lstStyle/>
                    <a:p>
                      <a:pPr indent="0" marL="0">
                        <a:buNone/>
                      </a:pPr>
                      <a:r>
                        <a:rPr lang="en-US" sz="1050" dirty="0">
                          <a:solidFill>
                            <a:schemeClr val="tx1"/>
                          </a:solidFill>
                        </a:rPr>
                        <a:t>Activity</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Agent creates next-action Activities (visible to reps); Activity becomes the input for S_activity and “uncontacted”</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NEW WRITES</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384048">
                <a:tc>
                  <a:txBody>
                    <a:bodyPr/>
                    <a:lstStyle/>
                    <a:p>
                      <a:pPr indent="0" marL="0">
                        <a:buNone/>
                      </a:pPr>
                      <a:r>
                        <a:rPr lang="en-US" sz="1050" dirty="0">
                          <a:solidFill>
                            <a:schemeClr val="tx1"/>
                          </a:solidFill>
                        </a:rPr>
                        <a:t>CRM preferences</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deal_rot_days / deal-rot-config remain the coarse threshold; lead-scoring switch still has no engine</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CONFIG</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384048">
                <a:tc>
                  <a:txBody>
                    <a:bodyPr/>
                    <a:lstStyle/>
                    <a:p>
                      <a:pPr indent="0" marL="0">
                        <a:buNone/>
                      </a:pPr>
                      <a:r>
                        <a:rPr lang="en-US" sz="1050" dirty="0">
                          <a:solidFill>
                            <a:schemeClr val="tx1"/>
                          </a:solidFill>
                        </a:rPr>
                        <a:t>Agent domain</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New AgentSkill, AgentTask, AgentEscalation, AgentMemory, AgentRunbook / ApprovalRequest records</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NEW RECORDS</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384048">
                <a:tc>
                  <a:txBody>
                    <a:bodyPr/>
                    <a:lstStyle/>
                    <a:p>
                      <a:pPr indent="0" marL="0">
                        <a:buNone/>
                      </a:pPr>
                      <a:r>
                        <a:rPr lang="en-US" sz="1050" dirty="0">
                          <a:solidFill>
                            <a:schemeClr val="tx1"/>
                          </a:solidFill>
                        </a:rPr>
                        <a:t>Channels</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Nudges to stale contacts go through ChannelSendDecision / ChannelConsent</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2"/>
                          </a:solidFill>
                        </a:rPr>
                        <a:t>NEW WRITES</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384048">
                <a:tc>
                  <a:txBody>
                    <a:bodyPr/>
                    <a:lstStyle/>
                    <a:p>
                      <a:pPr indent="0" marL="0">
                        <a:buNone/>
                      </a:pPr>
                      <a:r>
                        <a:rPr lang="en-US" sz="1050" dirty="0">
                          <a:solidFill>
                            <a:schemeClr val="tx1"/>
                          </a:solidFill>
                        </a:rPr>
                        <a:t>Finance, Support, Contracts</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Invoice / AR aging, Ticket, Contract read to enrich deal risk</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6"/>
                          </a:solidFill>
                        </a:rPr>
                        <a:t>READ-ONLY</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r h="384048">
                <a:tc>
                  <a:txBody>
                    <a:bodyPr/>
                    <a:lstStyle/>
                    <a:p>
                      <a:pPr indent="0" marL="0">
                        <a:buNone/>
                      </a:pPr>
                      <a:r>
                        <a:rPr lang="en-US" sz="1050" dirty="0">
                          <a:solidFill>
                            <a:schemeClr val="tx1"/>
                          </a:solidFill>
                        </a:rPr>
                        <a:t>API / MCP surface</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DealSnapshot CRUD plus rot_scores (ranked) and rot_score (one deal) query tools</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3"/>
                          </a:solidFill>
                        </a:rPr>
                        <a:t>NEW ENDPOINTS</a:t>
                      </a:r>
                      <a:endParaRPr lang="en-US" sz="1050" dirty="0"/>
                    </a:p>
                  </a:txBody>
                  <a:tcPr marL="76200" marR="76200" marT="25400" marB="25400"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indent="0" marL="0">
              <a:buNone/>
            </a:pPr>
            <a:r>
              <a:rPr lang="en-US" sz="2600" b="1" dirty="0">
                <a:solidFill>
                  <a:schemeClr val="tx2"/>
                </a:solidFill>
              </a:rPr>
              <a:t>Cross-module risks to manage</a:t>
            </a:r>
            <a:endParaRPr lang="en-US" sz="2600" dirty="0"/>
          </a:p>
        </p:txBody>
      </p:sp>
      <p:sp>
        <p:nvSpPr>
          <p:cNvPr id="3" name="risk-0"/>
          <p:cNvSpPr/>
          <p:nvPr/>
        </p:nvSpPr>
        <p:spPr>
          <a:xfrm>
            <a:off x="457200" y="1051560"/>
            <a:ext cx="4023360" cy="1645920"/>
          </a:xfrm>
          <a:prstGeom prst="roundRect">
            <a:avLst>
              <a:gd name="adj" fmla="val 4444"/>
            </a:avLst>
          </a:prstGeom>
          <a:solidFill>
            <a:schemeClr val="bg2"/>
          </a:solidFill>
          <a:ln/>
        </p:spPr>
      </p:sp>
      <p:sp>
        <p:nvSpPr>
          <p:cNvPr id="4" name="risk-icon-0-circle"/>
          <p:cNvSpPr/>
          <p:nvPr/>
        </p:nvSpPr>
        <p:spPr>
          <a:xfrm>
            <a:off x="640080" y="1234440"/>
            <a:ext cx="457200" cy="457200"/>
          </a:xfrm>
          <a:prstGeom prst="ellipse">
            <a:avLst/>
          </a:prstGeom>
          <a:solidFill>
            <a:schemeClr val="accent3"/>
          </a:solidFill>
          <a:ln/>
        </p:spPr>
      </p:sp>
      <p:pic>
        <p:nvPicPr>
          <p:cNvPr id="5" name="risk-icon-0-img" descr="preencoded.png">    </p:cNvPr>
          <p:cNvPicPr>
            <a:picLocks noChangeAspect="1"/>
          </p:cNvPicPr>
          <p:nvPr/>
        </p:nvPicPr>
        <p:blipFill>
          <a:blip r:embed="rId1"/>
          <a:stretch>
            <a:fillRect/>
          </a:stretch>
        </p:blipFill>
        <p:spPr>
          <a:xfrm>
            <a:off x="740664" y="1335024"/>
            <a:ext cx="256032" cy="256032"/>
          </a:xfrm>
          <a:prstGeom prst="rect">
            <a:avLst/>
          </a:prstGeom>
        </p:spPr>
      </p:pic>
      <p:sp>
        <p:nvSpPr>
          <p:cNvPr id="6" name="Text 3"/>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400" b="1" dirty="0">
                <a:solidFill>
                  <a:schemeClr val="tx2"/>
                </a:solidFill>
              </a:rPr>
              <a:t>Agent writes can mask rot</a:t>
            </a:r>
            <a:endParaRPr lang="en-US" sz="1400" dirty="0"/>
          </a:p>
        </p:txBody>
      </p:sp>
      <p:sp>
        <p:nvSpPr>
          <p:cNvPr id="7" name="Text 4"/>
          <p:cNvSpPr txBox="1"/>
          <p:nvPr/>
        </p:nvSpPr>
        <p:spPr>
          <a:xfrm>
            <a:off x="640080" y="1828800"/>
            <a:ext cx="3657600" cy="822960"/>
          </a:xfrm>
          <a:prstGeom prst="rect">
            <a:avLst/>
          </a:prstGeom>
          <a:noFill/>
          <a:ln/>
        </p:spPr>
        <p:txBody>
          <a:bodyPr wrap="square" lIns="0" tIns="0" rIns="0" bIns="0" rtlCol="0" anchor="t"/>
          <a:lstStyle/>
          <a:p>
            <a:pPr indent="0" marL="0">
              <a:buNone/>
            </a:pPr>
            <a:r>
              <a:rPr lang="en-US" sz="1150" dirty="0">
                <a:solidFill>
                  <a:schemeClr val="tx1"/>
                </a:solidFill>
              </a:rPr>
              <a:t>On the live platform, logging an agent task reset a deal's _rot_days to fresh. Recompute the score excluding the agent's own Activities.</a:t>
            </a:r>
            <a:endParaRPr lang="en-US" sz="1150" dirty="0"/>
          </a:p>
        </p:txBody>
      </p:sp>
      <p:sp>
        <p:nvSpPr>
          <p:cNvPr id="8" name="risk-1"/>
          <p:cNvSpPr/>
          <p:nvPr/>
        </p:nvSpPr>
        <p:spPr>
          <a:xfrm>
            <a:off x="4663440" y="1051560"/>
            <a:ext cx="4023360" cy="1645920"/>
          </a:xfrm>
          <a:prstGeom prst="roundRect">
            <a:avLst>
              <a:gd name="adj" fmla="val 4444"/>
            </a:avLst>
          </a:prstGeom>
          <a:solidFill>
            <a:schemeClr val="bg2"/>
          </a:solidFill>
          <a:ln/>
        </p:spPr>
      </p:sp>
      <p:sp>
        <p:nvSpPr>
          <p:cNvPr id="9" name="risk-icon-1-circle"/>
          <p:cNvSpPr/>
          <p:nvPr/>
        </p:nvSpPr>
        <p:spPr>
          <a:xfrm>
            <a:off x="4846320" y="1234440"/>
            <a:ext cx="457200" cy="457200"/>
          </a:xfrm>
          <a:prstGeom prst="ellipse">
            <a:avLst/>
          </a:prstGeom>
          <a:solidFill>
            <a:schemeClr val="accent2"/>
          </a:solidFill>
          <a:ln/>
        </p:spPr>
      </p:sp>
      <p:pic>
        <p:nvPicPr>
          <p:cNvPr id="10" name="risk-icon-1-img" descr="preencoded.png">    </p:cNvPr>
          <p:cNvPicPr>
            <a:picLocks noChangeAspect="1"/>
          </p:cNvPicPr>
          <p:nvPr/>
        </p:nvPicPr>
        <p:blipFill>
          <a:blip r:embed="rId2"/>
          <a:stretch>
            <a:fillRect/>
          </a:stretch>
        </p:blipFill>
        <p:spPr>
          <a:xfrm>
            <a:off x="4946904" y="1335024"/>
            <a:ext cx="256032" cy="256032"/>
          </a:xfrm>
          <a:prstGeom prst="rect">
            <a:avLst/>
          </a:prstGeom>
        </p:spPr>
      </p:pic>
      <p:sp>
        <p:nvSpPr>
          <p:cNvPr id="11" name="Text 7"/>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400" b="1" dirty="0">
                <a:solidFill>
                  <a:schemeClr val="tx2"/>
                </a:solidFill>
              </a:rPr>
              <a:t>Thresholds disagree</a:t>
            </a:r>
            <a:endParaRPr lang="en-US" sz="1400" dirty="0"/>
          </a:p>
        </p:txBody>
      </p:sp>
      <p:sp>
        <p:nvSpPr>
          <p:cNvPr id="12" name="Text 8"/>
          <p:cNvSpPr txBox="1"/>
          <p:nvPr/>
        </p:nvSpPr>
        <p:spPr>
          <a:xfrm>
            <a:off x="4846320" y="1828800"/>
            <a:ext cx="3657600" cy="822960"/>
          </a:xfrm>
          <a:prstGeom prst="rect">
            <a:avLst/>
          </a:prstGeom>
          <a:noFill/>
          <a:ln/>
        </p:spPr>
        <p:txBody>
          <a:bodyPr wrap="square" lIns="0" tIns="0" rIns="0" bIns="0" rtlCol="0" anchor="t"/>
          <a:lstStyle/>
          <a:p>
            <a:pPr indent="0" marL="0">
              <a:buNone/>
            </a:pPr>
            <a:r>
              <a:rPr lang="en-US" sz="1150" dirty="0">
                <a:solidFill>
                  <a:schemeClr val="tx1"/>
                </a:solidFill>
              </a:rPr>
              <a:t>deal-rot-config says 14 days, CRMPreferences says 30; the observed flip is 5–9 days. Pick one source before scoring.</a:t>
            </a:r>
            <a:endParaRPr lang="en-US" sz="1150" dirty="0"/>
          </a:p>
        </p:txBody>
      </p:sp>
      <p:sp>
        <p:nvSpPr>
          <p:cNvPr id="13" name="risk-2"/>
          <p:cNvSpPr/>
          <p:nvPr/>
        </p:nvSpPr>
        <p:spPr>
          <a:xfrm>
            <a:off x="457200" y="2834640"/>
            <a:ext cx="4023360" cy="1645920"/>
          </a:xfrm>
          <a:prstGeom prst="roundRect">
            <a:avLst>
              <a:gd name="adj" fmla="val 4444"/>
            </a:avLst>
          </a:prstGeom>
          <a:solidFill>
            <a:schemeClr val="bg2"/>
          </a:solidFill>
          <a:ln/>
        </p:spPr>
      </p:sp>
      <p:sp>
        <p:nvSpPr>
          <p:cNvPr id="14" name="risk-icon-2-circle"/>
          <p:cNvSpPr/>
          <p:nvPr/>
        </p:nvSpPr>
        <p:spPr>
          <a:xfrm>
            <a:off x="640080" y="3017520"/>
            <a:ext cx="457200" cy="457200"/>
          </a:xfrm>
          <a:prstGeom prst="ellipse">
            <a:avLst/>
          </a:prstGeom>
          <a:solidFill>
            <a:schemeClr val="accent2"/>
          </a:solidFill>
          <a:ln/>
        </p:spPr>
      </p:sp>
      <p:pic>
        <p:nvPicPr>
          <p:cNvPr id="15" name="risk-icon-2-img" descr="preencoded.png">    </p:cNvPr>
          <p:cNvPicPr>
            <a:picLocks noChangeAspect="1"/>
          </p:cNvPicPr>
          <p:nvPr/>
        </p:nvPicPr>
        <p:blipFill>
          <a:blip r:embed="rId3"/>
          <a:stretch>
            <a:fillRect/>
          </a:stretch>
        </p:blipFill>
        <p:spPr>
          <a:xfrm>
            <a:off x="740664" y="3118104"/>
            <a:ext cx="256032" cy="256032"/>
          </a:xfrm>
          <a:prstGeom prst="rect">
            <a:avLst/>
          </a:prstGeom>
        </p:spPr>
      </p:pic>
      <p:sp>
        <p:nvSpPr>
          <p:cNvPr id="16" name="Text 11"/>
          <p:cNvSpPr txBox="1"/>
          <p:nvPr/>
        </p:nvSpPr>
        <p:spPr>
          <a:xfrm>
            <a:off x="1234440" y="3017520"/>
            <a:ext cx="3108960" cy="457200"/>
          </a:xfrm>
          <a:prstGeom prst="rect">
            <a:avLst/>
          </a:prstGeom>
          <a:noFill/>
          <a:ln/>
        </p:spPr>
        <p:txBody>
          <a:bodyPr wrap="square" lIns="0" tIns="0" rIns="0" bIns="0" rtlCol="0" anchor="ctr"/>
          <a:lstStyle/>
          <a:p>
            <a:pPr indent="0" marL="0">
              <a:buNone/>
            </a:pPr>
            <a:r>
              <a:rPr lang="en-US" sz="1400" b="1" dirty="0">
                <a:solidFill>
                  <a:schemeClr val="tx2"/>
                </a:solidFill>
              </a:rPr>
              <a:t>Activity ↔ Deal link is empty</a:t>
            </a:r>
            <a:endParaRPr lang="en-US" sz="1400" dirty="0"/>
          </a:p>
        </p:txBody>
      </p:sp>
      <p:sp>
        <p:nvSpPr>
          <p:cNvPr id="17" name="Text 12"/>
          <p:cNvSpPr txBox="1"/>
          <p:nvPr/>
        </p:nvSpPr>
        <p:spPr>
          <a:xfrm>
            <a:off x="640080" y="3611880"/>
            <a:ext cx="3657600" cy="822960"/>
          </a:xfrm>
          <a:prstGeom prst="rect">
            <a:avLst/>
          </a:prstGeom>
          <a:noFill/>
          <a:ln/>
        </p:spPr>
        <p:txBody>
          <a:bodyPr wrap="square" lIns="0" tIns="0" rIns="0" bIns="0" rtlCol="0" anchor="t"/>
          <a:lstStyle/>
          <a:p>
            <a:pPr indent="0" marL="0">
              <a:buNone/>
            </a:pPr>
            <a:r>
              <a:rPr lang="en-US" sz="1150" dirty="0">
                <a:solidFill>
                  <a:schemeClr val="tx1"/>
                </a:solidFill>
              </a:rPr>
              <a:t>Activity.deal_id was unpopulated in the live sample; party_id is the usable join for “last contacted”.</a:t>
            </a:r>
            <a:endParaRPr lang="en-US" sz="1150" dirty="0"/>
          </a:p>
        </p:txBody>
      </p:sp>
      <p:sp>
        <p:nvSpPr>
          <p:cNvPr id="18" name="risk-3"/>
          <p:cNvSpPr/>
          <p:nvPr/>
        </p:nvSpPr>
        <p:spPr>
          <a:xfrm>
            <a:off x="4663440" y="2834640"/>
            <a:ext cx="4023360" cy="1645920"/>
          </a:xfrm>
          <a:prstGeom prst="roundRect">
            <a:avLst>
              <a:gd name="adj" fmla="val 4444"/>
            </a:avLst>
          </a:prstGeom>
          <a:solidFill>
            <a:schemeClr val="bg2"/>
          </a:solidFill>
          <a:ln/>
        </p:spPr>
      </p:sp>
      <p:sp>
        <p:nvSpPr>
          <p:cNvPr id="19" name="risk-icon-3-circle"/>
          <p:cNvSpPr/>
          <p:nvPr/>
        </p:nvSpPr>
        <p:spPr>
          <a:xfrm>
            <a:off x="4846320" y="3017520"/>
            <a:ext cx="457200" cy="457200"/>
          </a:xfrm>
          <a:prstGeom prst="ellipse">
            <a:avLst/>
          </a:prstGeom>
          <a:solidFill>
            <a:schemeClr val="accent4"/>
          </a:solidFill>
          <a:ln/>
        </p:spPr>
      </p:sp>
      <p:pic>
        <p:nvPicPr>
          <p:cNvPr id="20" name="risk-icon-3-img" descr="preencoded.png">    </p:cNvPr>
          <p:cNvPicPr>
            <a:picLocks noChangeAspect="1"/>
          </p:cNvPicPr>
          <p:nvPr/>
        </p:nvPicPr>
        <p:blipFill>
          <a:blip r:embed="rId4"/>
          <a:stretch>
            <a:fillRect/>
          </a:stretch>
        </p:blipFill>
        <p:spPr>
          <a:xfrm>
            <a:off x="4946904" y="3118104"/>
            <a:ext cx="256032" cy="256032"/>
          </a:xfrm>
          <a:prstGeom prst="rect">
            <a:avLst/>
          </a:prstGeom>
        </p:spPr>
      </p:pic>
      <p:sp>
        <p:nvSpPr>
          <p:cNvPr id="21" name="Text 15"/>
          <p:cNvSpPr txBox="1"/>
          <p:nvPr/>
        </p:nvSpPr>
        <p:spPr>
          <a:xfrm>
            <a:off x="5440680" y="3017520"/>
            <a:ext cx="3108960" cy="457200"/>
          </a:xfrm>
          <a:prstGeom prst="rect">
            <a:avLst/>
          </a:prstGeom>
          <a:noFill/>
          <a:ln/>
        </p:spPr>
        <p:txBody>
          <a:bodyPr wrap="square" lIns="0" tIns="0" rIns="0" bIns="0" rtlCol="0" anchor="ctr"/>
          <a:lstStyle/>
          <a:p>
            <a:pPr indent="0" marL="0">
              <a:buNone/>
            </a:pPr>
            <a:r>
              <a:rPr lang="en-US" sz="1400" b="1" dirty="0">
                <a:solidFill>
                  <a:schemeClr val="tx2"/>
                </a:solidFill>
              </a:rPr>
              <a:t>Unverified tool behaviour</a:t>
            </a:r>
            <a:endParaRPr lang="en-US" sz="1400" dirty="0"/>
          </a:p>
        </p:txBody>
      </p:sp>
      <p:sp>
        <p:nvSpPr>
          <p:cNvPr id="22" name="Text 16"/>
          <p:cNvSpPr txBox="1"/>
          <p:nvPr/>
        </p:nvSpPr>
        <p:spPr>
          <a:xfrm>
            <a:off x="4846320" y="3611880"/>
            <a:ext cx="3657600" cy="822960"/>
          </a:xfrm>
          <a:prstGeom prst="rect">
            <a:avLst/>
          </a:prstGeom>
          <a:noFill/>
          <a:ln/>
        </p:spPr>
        <p:txBody>
          <a:bodyPr wrap="square" lIns="0" tIns="0" rIns="0" bIns="0" rtlCol="0" anchor="t"/>
          <a:lstStyle/>
          <a:p>
            <a:pPr indent="0" marL="0">
              <a:buNone/>
            </a:pPr>
            <a:r>
              <a:rPr lang="en-US" sz="1150" dirty="0">
                <a:solidFill>
                  <a:schemeClr val="tx1"/>
                </a:solidFill>
              </a:rPr>
              <a:t>report max / group_by is inferred from docs and absent on the live seat — aggregate client-side and smoke-test first.</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97280"/>
          </a:xfrm>
          <a:prstGeom prst="rect">
            <a:avLst/>
          </a:prstGeom>
          <a:noFill/>
          <a:ln/>
        </p:spPr>
        <p:txBody>
          <a:bodyPr wrap="square" rtlCol="0" anchor="b"/>
          <a:lstStyle/>
          <a:p>
            <a:pPr indent="0" marL="0">
              <a:buNone/>
            </a:pPr>
            <a:r>
              <a:rPr lang="en-US" sz="3800" b="1" dirty="0">
                <a:solidFill>
                  <a:schemeClr val="bg1"/>
                </a:solidFill>
              </a:rPr>
              <a:t>Recommended sequence</a:t>
            </a:r>
            <a:endParaRPr lang="en-US" sz="3800" dirty="0"/>
          </a:p>
        </p:txBody>
      </p:sp>
      <p:sp>
        <p:nvSpPr>
          <p:cNvPr id="3" name="Text 0"/>
          <p:cNvSpPr/>
          <p:nvPr>
            <p:ph idx="101" type="body" hasCustomPrompt="1"/>
          </p:nvPr>
        </p:nvSpPr>
        <p:spPr>
          <a:xfrm>
            <a:off x="548640" y="2560320"/>
            <a:ext cx="8046720" cy="1463040"/>
          </a:xfrm>
          <a:prstGeom prst="rect">
            <a:avLst/>
          </a:prstGeom>
          <a:noFill/>
          <a:ln/>
        </p:spPr>
        <p:txBody>
          <a:bodyPr wrap="square" rtlCol="0" anchor="t"/>
          <a:lstStyle/>
          <a:p>
            <a:pPr marL="342900" indent="-342900">
              <a:spcAft>
                <a:spcPts val="800"/>
              </a:spcAft>
              <a:buSzPct val="100000"/>
              <a:buChar char="•"/>
            </a:pPr>
            <a:r>
              <a:rPr lang="en-US" sz="1600" dirty="0">
                <a:solidFill>
                  <a:schemeClr val="accent5"/>
                </a:solidFill>
              </a:rPr>
              <a:t>Now — ship the rot-score skill as a scheduled AgentTask on the existing seat</a:t>
            </a:r>
            <a:endParaRPr lang="en-US" sz="1600" dirty="0"/>
          </a:p>
          <a:p>
            <a:pPr marL="342900" indent="-342900">
              <a:spcAft>
                <a:spcPts val="800"/>
              </a:spcAft>
              <a:buSzPct val="100000"/>
              <a:buChar char="•"/>
            </a:pPr>
            <a:r>
              <a:rPr lang="en-US" sz="1600" dirty="0">
                <a:solidFill>
                  <a:schemeClr val="accent5"/>
                </a:solidFill>
              </a:rPr>
              <a:t>Next — add the Deal.list rot filter and the DealSnapshot ledger</a:t>
            </a:r>
            <a:endParaRPr lang="en-US" sz="1600" dirty="0"/>
          </a:p>
          <a:p>
            <a:pPr marL="342900" indent="-342900">
              <a:spcAft>
                <a:spcPts val="800"/>
              </a:spcAft>
              <a:buSzPct val="100000"/>
              <a:buChar char="•"/>
            </a:pPr>
            <a:r>
              <a:rPr lang="en-US" sz="1600" dirty="0">
                <a:solidFill>
                  <a:schemeClr val="accent5"/>
                </a:solidFill>
              </a:rPr>
              <a:t>Later — lead scoring, call intelligence, sequences, enrichment, forecasting</a:t>
            </a:r>
            <a:endParaRPr lang="en-US" sz="1600" dirty="0"/>
          </a:p>
        </p:txBody>
      </p:sp>
    </p:spTree>
  </p:cSld>
  <p:clrMapOvr>
    <a:masterClrMapping/>
  </p:clrMapOvr>
</p:sld>
</file>

<file path=ppt/theme/theme1.xml><?xml version="1.0" encoding="utf-8"?>
<a:theme xmlns:a="http://schemas.openxmlformats.org/drawingml/2006/main" name="Pipeline Rot">
  <a:themeElements>
    <a:clrScheme name="Pipeline Rot">
      <a:dk1>
        <a:srgbClr val="1B2A24"/>
      </a:dk1>
      <a:lt1>
        <a:srgbClr val="FFFFFF"/>
      </a:lt1>
      <a:dk2>
        <a:srgbClr val="1F3A2E"/>
      </a:dk2>
      <a:lt2>
        <a:srgbClr val="EEF3EF"/>
      </a:lt2>
      <a:accent1>
        <a:srgbClr val="2E7D57"/>
      </a:accent1>
      <a:accent2>
        <a:srgbClr val="D98E04"/>
      </a:accent2>
      <a:accent3>
        <a:srgbClr val="B23A2E"/>
      </a:accent3>
      <a:accent4>
        <a:srgbClr val="5B6B64"/>
      </a:accent4>
      <a:accent5>
        <a:srgbClr val="8DB89E"/>
      </a:accent5>
      <a:accent6>
        <a:srgbClr val="3C5A99"/>
      </a:accent6>
      <a:hlink>
        <a:srgbClr val="2E7D57"/>
      </a:hlink>
      <a:folHlink>
        <a:srgbClr val="5B6B64"/>
      </a:folHlink>
    </a:clrScheme>
    <a:fontScheme name="Pipeline R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CRM Pipeline Agent Gap Report</dc:title>
  <dc:subject>PptxGenJS Presentation</dc:subject>
  <dc:creator>Pipeline Agent team (seat 07)</dc:creator>
  <cp:lastModifiedBy>Pipeline Agent team (seat 07)</cp:lastModifiedBy>
  <cp:revision>1</cp:revision>
  <dcterms:created xsi:type="dcterms:W3CDTF">2026-10-02T11:04:36Z</dcterms:created>
  <dcterms:modified xsi:type="dcterms:W3CDTF">2026-10-02T11:04:36Z</dcterms:modified>
</cp:coreProperties>
</file>